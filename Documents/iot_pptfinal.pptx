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showSpecialPlsOnTitleSld="0">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3840">
          <p15:clr>
            <a:srgbClr val="000000"/>
          </p15:clr>
        </p15:guide>
      </p15:sldGuideLst>
    </p:ext>
    <p:ext uri="GoogleSlidesCustomDataVersion2">
      <go:slidesCustomData xmlns:go="http://customooxmlschemas.google.com/" r:id="rId19" roundtripDataSignature="AMtx7mhwFtSVbGuJV/qfevJIX9vJKe0kg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E21E2DA5-FD08-45D3-B0BC-DFD3291398F7}">
  <a:tblStyle styleId="{E21E2DA5-FD08-45D3-B0BC-DFD3291398F7}"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1.xml"/><Relationship Id="rId19" Type="http://customschemas.google.com/relationships/presentationmetadata" Target="metadata"/><Relationship Id="rId6" Type="http://schemas.openxmlformats.org/officeDocument/2006/relationships/notesMaster" Target="notesMasters/notesMaster1.xml"/><Relationship Id="rId18" Type="http://schemas.openxmlformats.org/officeDocument/2006/relationships/slide" Target="slides/slide12.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4" name="Google Shape;84;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6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5" name="Google Shape;95;p6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3a02e1ac065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3a02e1ac065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Efficient waste management is a major challenge in modern cities due to rapid population growth and improper disposal habits. Manual monitoring of dustbins is inefficient, unhygienic, and leads to overflowing bins, foul odour, and increased environmental pollution. To address these issues, this project implements an automated Smart Waste Bin that integrates IoT sensing, real-time data monitoring, and machine-learning-based waste classification.</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The system uses an ESP32-S3 microcontroller equipped with ultrasonic, gas, and moisture sensors. The ultrasonic sensor measures the bin's fill-level, while the moisture and gas sensors detect wet or decomposing waste. When the bin is full or wet waste is detected, the system triggers LED and buzzer alerts and simultaneously updates the dashboard. The buzzer can also be remotely controlled through the web interface.</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Additionally, a deep-learning model is integrated to classify organic waste through the device’s camera feed. Every few seconds, the model analyzes frames and determines whether the visible waste is organic. If confirmed, the system sends a signal to treat the waste as wet waste, improving segregation accuracy.</a:t>
            </a:r>
            <a:endParaRPr sz="1100">
              <a:latin typeface="Arial"/>
              <a:ea typeface="Arial"/>
              <a:cs typeface="Arial"/>
              <a:sym typeface="Arial"/>
            </a:endParaRPr>
          </a:p>
          <a:p>
            <a:pPr indent="0" lvl="0" marL="0" rtl="0" algn="l">
              <a:lnSpc>
                <a:spcPct val="115000"/>
              </a:lnSpc>
              <a:spcBef>
                <a:spcPts val="1200"/>
              </a:spcBef>
              <a:spcAft>
                <a:spcPts val="1200"/>
              </a:spcAft>
              <a:buNone/>
            </a:pPr>
            <a:r>
              <a:rPr lang="en-US" sz="1100">
                <a:latin typeface="Arial"/>
                <a:ea typeface="Arial"/>
                <a:cs typeface="Arial"/>
                <a:sym typeface="Arial"/>
              </a:rPr>
              <a:t>All sensor readings and model outputs are displayed live on a web dashboard using Flask. This approach ensures hygiene, reduces human involvement, prevents overflow situations, encourages proper segregation, and contributes toward smart-city waste automation and sustainable urban living.</a:t>
            </a:r>
            <a:endParaRPr/>
          </a:p>
        </p:txBody>
      </p:sp>
      <p:sp>
        <p:nvSpPr>
          <p:cNvPr id="104" name="Google Shape;104;g3a02e1ac065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3a02e1ac065_0_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3a02e1ac065_0_1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Waste collection in many cities still follows manual or scheduled routines, where garbage collectors visit bins without knowing whether they are full or empty. This outdated approach wastes time and resources and causes bins to overflow before collection arrives. Overflowing bins not only result in bad odour and unhygienic surroundings but also attract insects, stray animals, and contribute to environmental pollution. Wet waste in particular decomposes quickly, producing harmful gases and unpleasant smells, posing a health hazard for nearby residents and sanitation workers.</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Another major issue is the lack of proper waste segregation at the source. Citizens often mix organic and recyclable waste, making recycling difficult and reducing its effectiveness. Most dustbins only serve as passive storage containers without intelligence to identify and sort waste. Without real-time monitoring, municipal authorities do not receive timely alerts, leading to late collection and inefficient waste transportation planning.</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Therefore, there is a need for a </a:t>
            </a:r>
            <a:r>
              <a:rPr b="1" lang="en-US" sz="1100">
                <a:latin typeface="Arial"/>
                <a:ea typeface="Arial"/>
                <a:cs typeface="Arial"/>
                <a:sym typeface="Arial"/>
              </a:rPr>
              <a:t>smart, automated waste monitoring and classification system</a:t>
            </a:r>
            <a:r>
              <a:rPr lang="en-US" sz="1100">
                <a:latin typeface="Arial"/>
                <a:ea typeface="Arial"/>
                <a:cs typeface="Arial"/>
                <a:sym typeface="Arial"/>
              </a:rPr>
              <a:t> that can:</a:t>
            </a:r>
            <a:endParaRPr sz="1100">
              <a:latin typeface="Arial"/>
              <a:ea typeface="Arial"/>
              <a:cs typeface="Arial"/>
              <a:sym typeface="Arial"/>
            </a:endParaRPr>
          </a:p>
          <a:p>
            <a:pPr indent="-298450" lvl="0" marL="457200" rtl="0" algn="l">
              <a:lnSpc>
                <a:spcPct val="115000"/>
              </a:lnSpc>
              <a:spcBef>
                <a:spcPts val="1200"/>
              </a:spcBef>
              <a:spcAft>
                <a:spcPts val="0"/>
              </a:spcAft>
              <a:buClr>
                <a:schemeClr val="dk1"/>
              </a:buClr>
              <a:buSzPts val="1100"/>
              <a:buChar char="●"/>
            </a:pPr>
            <a:r>
              <a:rPr lang="en-US" sz="1100">
                <a:latin typeface="Arial"/>
                <a:ea typeface="Arial"/>
                <a:cs typeface="Arial"/>
                <a:sym typeface="Arial"/>
              </a:rPr>
              <a:t>Detect waste type (organic vs dry)</a:t>
            </a:r>
            <a:br>
              <a:rPr lang="en-US" sz="1100">
                <a:latin typeface="Arial"/>
                <a:ea typeface="Arial"/>
                <a:cs typeface="Arial"/>
                <a:sym typeface="Arial"/>
              </a:rPr>
            </a:b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sz="1100">
                <a:latin typeface="Arial"/>
                <a:ea typeface="Arial"/>
                <a:cs typeface="Arial"/>
                <a:sym typeface="Arial"/>
              </a:rPr>
              <a:t>Monitor bin fill level</a:t>
            </a:r>
            <a:br>
              <a:rPr lang="en-US" sz="1100">
                <a:latin typeface="Arial"/>
                <a:ea typeface="Arial"/>
                <a:cs typeface="Arial"/>
                <a:sym typeface="Arial"/>
              </a:rPr>
            </a:b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sz="1100">
                <a:latin typeface="Arial"/>
                <a:ea typeface="Arial"/>
                <a:cs typeface="Arial"/>
                <a:sym typeface="Arial"/>
              </a:rPr>
              <a:t>Give real-time alerts</a:t>
            </a:r>
            <a:br>
              <a:rPr lang="en-US" sz="1100">
                <a:latin typeface="Arial"/>
                <a:ea typeface="Arial"/>
                <a:cs typeface="Arial"/>
                <a:sym typeface="Arial"/>
              </a:rPr>
            </a:b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sz="1100">
                <a:latin typeface="Arial"/>
                <a:ea typeface="Arial"/>
                <a:cs typeface="Arial"/>
                <a:sym typeface="Arial"/>
              </a:rPr>
              <a:t>Trigger alarms for timely action</a:t>
            </a:r>
            <a:br>
              <a:rPr lang="en-US" sz="1100">
                <a:latin typeface="Arial"/>
                <a:ea typeface="Arial"/>
                <a:cs typeface="Arial"/>
                <a:sym typeface="Arial"/>
              </a:rPr>
            </a:b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sz="1100">
                <a:latin typeface="Arial"/>
                <a:ea typeface="Arial"/>
                <a:cs typeface="Arial"/>
                <a:sym typeface="Arial"/>
              </a:rPr>
              <a:t>Prevent overflow situations</a:t>
            </a:r>
            <a:br>
              <a:rPr lang="en-US" sz="1100">
                <a:latin typeface="Arial"/>
                <a:ea typeface="Arial"/>
                <a:cs typeface="Arial"/>
                <a:sym typeface="Arial"/>
              </a:rPr>
            </a:b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sz="1100">
                <a:latin typeface="Arial"/>
                <a:ea typeface="Arial"/>
                <a:cs typeface="Arial"/>
                <a:sym typeface="Arial"/>
              </a:rPr>
              <a:t>Improve hygiene and reduce manual dependency</a:t>
            </a:r>
            <a:br>
              <a:rPr lang="en-US" sz="1100">
                <a:latin typeface="Arial"/>
                <a:ea typeface="Arial"/>
                <a:cs typeface="Arial"/>
                <a:sym typeface="Arial"/>
              </a:rPr>
            </a:b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This project aims to solve these problems using IoT sensors, AI vision, and real-time dashboard monitoring, enabling cleaner and more efficient waste management systems.</a:t>
            </a:r>
            <a:endParaRPr sz="1100">
              <a:latin typeface="Arial"/>
              <a:ea typeface="Arial"/>
              <a:cs typeface="Arial"/>
              <a:sym typeface="Arial"/>
            </a:endParaRPr>
          </a:p>
          <a:p>
            <a:pPr indent="0" lvl="0" marL="0" rtl="0" algn="l">
              <a:spcBef>
                <a:spcPts val="1200"/>
              </a:spcBef>
              <a:spcAft>
                <a:spcPts val="0"/>
              </a:spcAft>
              <a:buNone/>
            </a:pPr>
            <a:r>
              <a:t/>
            </a:r>
            <a:endParaRPr/>
          </a:p>
        </p:txBody>
      </p:sp>
      <p:sp>
        <p:nvSpPr>
          <p:cNvPr id="112" name="Google Shape;112;g3a02e1ac065_0_12: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3a02e1ac065_0_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19" name="Google Shape;119;g3a02e1ac065_0_2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The primary objective of this project is to automate waste monitoring and classification to make waste management smarter, cleaner, and more efficient. Traditional bins cannot differentiate between waste types or indicate when they are full. Our smart bin focuses on solving this by using </a:t>
            </a:r>
            <a:r>
              <a:rPr b="1" lang="en-US" sz="1100">
                <a:latin typeface="Arial"/>
                <a:ea typeface="Arial"/>
                <a:cs typeface="Arial"/>
                <a:sym typeface="Arial"/>
              </a:rPr>
              <a:t>sensor-based detection and AI classification</a:t>
            </a:r>
            <a:r>
              <a:rPr lang="en-US" sz="1100">
                <a:latin typeface="Arial"/>
                <a:ea typeface="Arial"/>
                <a:cs typeface="Arial"/>
                <a:sym typeface="Arial"/>
              </a:rPr>
              <a:t>.</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First, the bin uses an </a:t>
            </a:r>
            <a:r>
              <a:rPr b="1" lang="en-US" sz="1100">
                <a:latin typeface="Arial"/>
                <a:ea typeface="Arial"/>
                <a:cs typeface="Arial"/>
                <a:sym typeface="Arial"/>
              </a:rPr>
              <a:t>MQ-135 gas sensor</a:t>
            </a:r>
            <a:r>
              <a:rPr lang="en-US" sz="1100">
                <a:latin typeface="Arial"/>
                <a:ea typeface="Arial"/>
                <a:cs typeface="Arial"/>
                <a:sym typeface="Arial"/>
              </a:rPr>
              <a:t>, </a:t>
            </a:r>
            <a:r>
              <a:rPr b="1" lang="en-US" sz="1100">
                <a:latin typeface="Arial"/>
                <a:ea typeface="Arial"/>
                <a:cs typeface="Arial"/>
                <a:sym typeface="Arial"/>
              </a:rPr>
              <a:t>capacitive moisture sensor</a:t>
            </a:r>
            <a:r>
              <a:rPr lang="en-US" sz="1100">
                <a:latin typeface="Arial"/>
                <a:ea typeface="Arial"/>
                <a:cs typeface="Arial"/>
                <a:sym typeface="Arial"/>
              </a:rPr>
              <a:t>, and </a:t>
            </a:r>
            <a:r>
              <a:rPr b="1" lang="en-US" sz="1100">
                <a:latin typeface="Arial"/>
                <a:ea typeface="Arial"/>
                <a:cs typeface="Arial"/>
                <a:sym typeface="Arial"/>
              </a:rPr>
              <a:t>ultrasonic sensor</a:t>
            </a:r>
            <a:r>
              <a:rPr lang="en-US" sz="1100">
                <a:latin typeface="Arial"/>
                <a:ea typeface="Arial"/>
                <a:cs typeface="Arial"/>
                <a:sym typeface="Arial"/>
              </a:rPr>
              <a:t> to identify wet waste and measure the garbage level. The goal is to classify waste at the source and avoid health hazards caused by decomposition gases and liquid leakage.</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Second, a </a:t>
            </a:r>
            <a:r>
              <a:rPr b="1" lang="en-US" sz="1100">
                <a:latin typeface="Arial"/>
                <a:ea typeface="Arial"/>
                <a:cs typeface="Arial"/>
                <a:sym typeface="Arial"/>
              </a:rPr>
              <a:t>machine learning model and webcam</a:t>
            </a:r>
            <a:r>
              <a:rPr lang="en-US" sz="1100">
                <a:latin typeface="Arial"/>
                <a:ea typeface="Arial"/>
                <a:cs typeface="Arial"/>
                <a:sym typeface="Arial"/>
              </a:rPr>
              <a:t> detect organic waste visually. This cross-verification strengthens accuracy, ensuring even if one sensor fails, the bin still identifies wet waste correctly.</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Third, by connecting the bin to a </a:t>
            </a:r>
            <a:r>
              <a:rPr b="1" lang="en-US" sz="1100">
                <a:latin typeface="Arial"/>
                <a:ea typeface="Arial"/>
                <a:cs typeface="Arial"/>
                <a:sym typeface="Arial"/>
              </a:rPr>
              <a:t>Wi-Fi-enabled ESP32-S3 microcontroller</a:t>
            </a:r>
            <a:r>
              <a:rPr lang="en-US" sz="1100">
                <a:latin typeface="Arial"/>
                <a:ea typeface="Arial"/>
                <a:cs typeface="Arial"/>
                <a:sym typeface="Arial"/>
              </a:rPr>
              <a:t>, the system sends real-time data to a web dashboard. Authorities or users can monitor gas levels, moisture, bin fullness, and waste type through a clean UI.</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Another objective is to alert users when intervention is needed. A </a:t>
            </a:r>
            <a:r>
              <a:rPr b="1" lang="en-US" sz="1100">
                <a:latin typeface="Arial"/>
                <a:ea typeface="Arial"/>
                <a:cs typeface="Arial"/>
                <a:sym typeface="Arial"/>
              </a:rPr>
              <a:t>buzzer and LED system</a:t>
            </a:r>
            <a:r>
              <a:rPr lang="en-US" sz="1100">
                <a:latin typeface="Arial"/>
                <a:ea typeface="Arial"/>
                <a:cs typeface="Arial"/>
                <a:sym typeface="Arial"/>
              </a:rPr>
              <a:t> provides immediate notification for full bins or wet waste detection, ensuring timely disposal and maintaining hygiene.</a:t>
            </a:r>
            <a:endParaRPr sz="1100">
              <a:latin typeface="Arial"/>
              <a:ea typeface="Arial"/>
              <a:cs typeface="Arial"/>
              <a:sym typeface="Arial"/>
            </a:endParaRPr>
          </a:p>
          <a:p>
            <a:pPr indent="0" lvl="0" marL="0" rtl="0" algn="l">
              <a:lnSpc>
                <a:spcPct val="115000"/>
              </a:lnSpc>
              <a:spcBef>
                <a:spcPts val="1200"/>
              </a:spcBef>
              <a:spcAft>
                <a:spcPts val="1200"/>
              </a:spcAft>
              <a:buNone/>
            </a:pPr>
            <a:r>
              <a:rPr lang="en-US" sz="1100">
                <a:latin typeface="Arial"/>
                <a:ea typeface="Arial"/>
                <a:cs typeface="Arial"/>
                <a:sym typeface="Arial"/>
              </a:rPr>
              <a:t>Lastly, the aim is to build a platform that can scale for smart homes, institutions, and smart cities, reducing waste-collection inefficiency and encouraging better waste segregation habits.</a:t>
            </a:r>
            <a:endParaRPr/>
          </a:p>
        </p:txBody>
      </p:sp>
      <p:sp>
        <p:nvSpPr>
          <p:cNvPr id="120" name="Google Shape;120;g3a02e1ac065_0_2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a02e1ac065_0_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3a02e1ac065_0_3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The methodology of this smart waste bin system integrates IoT sensing, machine learning classification, and real-time web monitoring. The process begins with sensor data acquisition: the </a:t>
            </a:r>
            <a:r>
              <a:rPr b="1" lang="en-US" sz="1100">
                <a:latin typeface="Arial"/>
                <a:ea typeface="Arial"/>
                <a:cs typeface="Arial"/>
                <a:sym typeface="Arial"/>
              </a:rPr>
              <a:t>MQ-135 gas sensor</a:t>
            </a:r>
            <a:r>
              <a:rPr lang="en-US" sz="1100">
                <a:latin typeface="Arial"/>
                <a:ea typeface="Arial"/>
                <a:cs typeface="Arial"/>
                <a:sym typeface="Arial"/>
              </a:rPr>
              <a:t> detects harmful gases released by wet or decomposing waste, the </a:t>
            </a:r>
            <a:r>
              <a:rPr b="1" lang="en-US" sz="1100">
                <a:latin typeface="Arial"/>
                <a:ea typeface="Arial"/>
                <a:cs typeface="Arial"/>
                <a:sym typeface="Arial"/>
              </a:rPr>
              <a:t>capacitive moisture sensor</a:t>
            </a:r>
            <a:r>
              <a:rPr lang="en-US" sz="1100">
                <a:latin typeface="Arial"/>
                <a:ea typeface="Arial"/>
                <a:cs typeface="Arial"/>
                <a:sym typeface="Arial"/>
              </a:rPr>
              <a:t> identifies liquid content, and the </a:t>
            </a:r>
            <a:r>
              <a:rPr b="1" lang="en-US" sz="1100">
                <a:latin typeface="Arial"/>
                <a:ea typeface="Arial"/>
                <a:cs typeface="Arial"/>
                <a:sym typeface="Arial"/>
              </a:rPr>
              <a:t>ultrasonic sensor</a:t>
            </a:r>
            <a:r>
              <a:rPr lang="en-US" sz="1100">
                <a:latin typeface="Arial"/>
                <a:ea typeface="Arial"/>
                <a:cs typeface="Arial"/>
                <a:sym typeface="Arial"/>
              </a:rPr>
              <a:t> calculates the bin fill level based on distance measurements. These values form the first layer of decision-making for classifying waste as wet or dry and determining whether the bin is full.</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Parallel to this, a </a:t>
            </a:r>
            <a:r>
              <a:rPr b="1" lang="en-US" sz="1100">
                <a:latin typeface="Arial"/>
                <a:ea typeface="Arial"/>
                <a:cs typeface="Arial"/>
                <a:sym typeface="Arial"/>
              </a:rPr>
              <a:t>webcam captures images of incoming waste</a:t>
            </a:r>
            <a:r>
              <a:rPr lang="en-US" sz="1100">
                <a:latin typeface="Arial"/>
                <a:ea typeface="Arial"/>
                <a:cs typeface="Arial"/>
                <a:sym typeface="Arial"/>
              </a:rPr>
              <a:t>, which are processed every few seconds using a </a:t>
            </a:r>
            <a:r>
              <a:rPr b="1" lang="en-US" sz="1100">
                <a:latin typeface="Arial"/>
                <a:ea typeface="Arial"/>
                <a:cs typeface="Arial"/>
                <a:sym typeface="Arial"/>
              </a:rPr>
              <a:t>deep learning CNN model</a:t>
            </a:r>
            <a:r>
              <a:rPr lang="en-US" sz="1100">
                <a:latin typeface="Arial"/>
                <a:ea typeface="Arial"/>
                <a:cs typeface="Arial"/>
                <a:sym typeface="Arial"/>
              </a:rPr>
              <a:t> trained on organic vs recyclable waste. The combination of visual classification and physical sensors increases reliability by cross-verifying decisions.</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The ESP32-S3 microcontroller acts as the system hub — reading sensor inputs, interpreting logic, and sending structured JSON data to a </a:t>
            </a:r>
            <a:r>
              <a:rPr b="1" lang="en-US" sz="1100">
                <a:latin typeface="Arial"/>
                <a:ea typeface="Arial"/>
                <a:cs typeface="Arial"/>
                <a:sym typeface="Arial"/>
              </a:rPr>
              <a:t>Flask server</a:t>
            </a:r>
            <a:r>
              <a:rPr lang="en-US" sz="1100">
                <a:latin typeface="Arial"/>
                <a:ea typeface="Arial"/>
                <a:cs typeface="Arial"/>
                <a:sym typeface="Arial"/>
              </a:rPr>
              <a:t> hosted on a computer. This server updates a real-time dashboard, where the user can view metrics like gas levels, moisture, fill percentage, bin status, and ML prediction results. The UI also provides buzzer control to temporarily disable alerts.</a:t>
            </a:r>
            <a:endParaRPr sz="1100">
              <a:latin typeface="Arial"/>
              <a:ea typeface="Arial"/>
              <a:cs typeface="Arial"/>
              <a:sym typeface="Arial"/>
            </a:endParaRPr>
          </a:p>
          <a:p>
            <a:pPr indent="0" lvl="0" marL="0" rtl="0" algn="l">
              <a:lnSpc>
                <a:spcPct val="115000"/>
              </a:lnSpc>
              <a:spcBef>
                <a:spcPts val="1200"/>
              </a:spcBef>
              <a:spcAft>
                <a:spcPts val="1200"/>
              </a:spcAft>
              <a:buNone/>
            </a:pPr>
            <a:r>
              <a:rPr lang="en-US" sz="1100">
                <a:latin typeface="Arial"/>
                <a:ea typeface="Arial"/>
                <a:cs typeface="Arial"/>
                <a:sym typeface="Arial"/>
              </a:rPr>
              <a:t>When wet waste or full bin conditions are detected, </a:t>
            </a:r>
            <a:r>
              <a:rPr b="1" lang="en-US" sz="1100">
                <a:latin typeface="Arial"/>
                <a:ea typeface="Arial"/>
                <a:cs typeface="Arial"/>
                <a:sym typeface="Arial"/>
              </a:rPr>
              <a:t>LED indicators and a buzzer</a:t>
            </a:r>
            <a:r>
              <a:rPr lang="en-US" sz="1100">
                <a:latin typeface="Arial"/>
                <a:ea typeface="Arial"/>
                <a:cs typeface="Arial"/>
                <a:sym typeface="Arial"/>
              </a:rPr>
              <a:t> provide immediate audible and visual alerts. This structured pipeline ensures continuous sensing, AI-based classification, and real-time cloud connectivity, making the system efficient, intelligent, and scalable for smart city waste management.</a:t>
            </a:r>
            <a:endParaRPr/>
          </a:p>
        </p:txBody>
      </p:sp>
      <p:sp>
        <p:nvSpPr>
          <p:cNvPr id="128" name="Google Shape;128;g3a02e1ac065_0_3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3a02e1ac065_0_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3a02e1ac065_0_4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Our project brings innovation by merging </a:t>
            </a:r>
            <a:r>
              <a:rPr b="1" lang="en-US" sz="1100">
                <a:latin typeface="Arial"/>
                <a:ea typeface="Arial"/>
                <a:cs typeface="Arial"/>
                <a:sym typeface="Arial"/>
              </a:rPr>
              <a:t>IoT sensing and deep learning-based waste detection</a:t>
            </a:r>
            <a:r>
              <a:rPr lang="en-US" sz="1100">
                <a:latin typeface="Arial"/>
                <a:ea typeface="Arial"/>
                <a:cs typeface="Arial"/>
                <a:sym typeface="Arial"/>
              </a:rPr>
              <a:t>, unlike most existing smart bins that depend on a single sensor. We use </a:t>
            </a:r>
            <a:r>
              <a:rPr b="1" lang="en-US" sz="1100">
                <a:latin typeface="Arial"/>
                <a:ea typeface="Arial"/>
                <a:cs typeface="Arial"/>
                <a:sym typeface="Arial"/>
              </a:rPr>
              <a:t>gas sensors, moisture sensors, ultrasonic measurement, and a machine-learning vision model</a:t>
            </a:r>
            <a:r>
              <a:rPr lang="en-US" sz="1100">
                <a:latin typeface="Arial"/>
                <a:ea typeface="Arial"/>
                <a:cs typeface="Arial"/>
                <a:sym typeface="Arial"/>
              </a:rPr>
              <a:t> to cross-verify waste type and bin status, improving reliability even in real-world messy waste scenarios.</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An auto-calibration mechanism helps the device adapt to different waste bins and environments without manual tuning. The web dashboard shows live values, waste classification results, and even lets users control the buzzer remotely — a feature typically missing in small-scale IoT bins.</a:t>
            </a:r>
            <a:endParaRPr sz="1100">
              <a:latin typeface="Arial"/>
              <a:ea typeface="Arial"/>
              <a:cs typeface="Arial"/>
              <a:sym typeface="Arial"/>
            </a:endParaRPr>
          </a:p>
          <a:p>
            <a:pPr indent="0" lvl="0" marL="0" rtl="0" algn="l">
              <a:lnSpc>
                <a:spcPct val="115000"/>
              </a:lnSpc>
              <a:spcBef>
                <a:spcPts val="1200"/>
              </a:spcBef>
              <a:spcAft>
                <a:spcPts val="1200"/>
              </a:spcAft>
              <a:buNone/>
            </a:pPr>
            <a:r>
              <a:rPr lang="en-US" sz="1100">
                <a:latin typeface="Arial"/>
                <a:ea typeface="Arial"/>
                <a:cs typeface="Arial"/>
                <a:sym typeface="Arial"/>
              </a:rPr>
              <a:t>Together, these components create a </a:t>
            </a:r>
            <a:r>
              <a:rPr b="1" lang="en-US" sz="1100">
                <a:latin typeface="Arial"/>
                <a:ea typeface="Arial"/>
                <a:cs typeface="Arial"/>
                <a:sym typeface="Arial"/>
              </a:rPr>
              <a:t>more intelligent, accurate, and interactive smart-waste system</a:t>
            </a:r>
            <a:r>
              <a:rPr lang="en-US" sz="1100">
                <a:latin typeface="Arial"/>
                <a:ea typeface="Arial"/>
                <a:cs typeface="Arial"/>
                <a:sym typeface="Arial"/>
              </a:rPr>
              <a:t>, ready for smart campus and smart-city use.</a:t>
            </a:r>
            <a:endParaRPr/>
          </a:p>
        </p:txBody>
      </p:sp>
      <p:sp>
        <p:nvSpPr>
          <p:cNvPr id="138" name="Google Shape;138;g3a02e1ac065_0_4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3a02e1ac065_0_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3a02e1ac065_0_4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lnSpc>
                <a:spcPct val="115000"/>
              </a:lnSpc>
              <a:spcBef>
                <a:spcPts val="0"/>
              </a:spcBef>
              <a:spcAft>
                <a:spcPts val="0"/>
              </a:spcAft>
              <a:buNone/>
            </a:pPr>
            <a:r>
              <a:rPr lang="en-US" sz="1100">
                <a:latin typeface="Arial"/>
                <a:ea typeface="Arial"/>
                <a:cs typeface="Arial"/>
                <a:sym typeface="Arial"/>
              </a:rPr>
              <a:t>Our system is built using a hybrid of machine learning and sensor fusion. We referenced a Kaggle CNN notebook for deep learning-based waste classification and combined it with real-world moisture, gas, and ultrasonic sensor methods. Capacitive sensor manuals helped us configure moisture thresholds reliably, and MQ135 tutorials provided gas baseline calibration logic. Finally, prior smart-bin ultrasonic works guided our bin fill detection and alert logic. This fusion approach improves accuracy and handles real-world waste conditions better than single-sensor systems.</a:t>
            </a:r>
            <a:endParaRPr/>
          </a:p>
        </p:txBody>
      </p:sp>
      <p:sp>
        <p:nvSpPr>
          <p:cNvPr id="146" name="Google Shape;146;g3a02e1ac065_0_4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3a02e1ac065_0_5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53" name="Google Shape;153;g3a02e1ac065_0_5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4" name="Google Shape;154;g3a02e1ac065_0_5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a02e1ac065_0_6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61" name="Google Shape;161;g3a02e1ac065_0_6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2" name="Google Shape;162;g3a02e1ac065_0_6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a02e1ac065_0_7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3a02e1ac065_0_7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rPr lang="en-US" sz="1100">
                <a:latin typeface="Arial"/>
                <a:ea typeface="Arial"/>
                <a:cs typeface="Arial"/>
                <a:sym typeface="Arial"/>
              </a:rPr>
              <a:t>Our project integrates IoT sensors with machine learning to automate waste detection and bin-monitoring. The system continuously checks moisture, gas levels, and distance to identify wet waste and detect when the bin is full. Meanwhile, a deep-learning model analyzes images from a camera to recognize organic waste. All this information is transmitted wirelessly to a real-time dashboard, and alerts are triggered through LEDs and a buzzer.</a:t>
            </a:r>
            <a:endParaRPr sz="1100">
              <a:latin typeface="Arial"/>
              <a:ea typeface="Arial"/>
              <a:cs typeface="Arial"/>
              <a:sym typeface="Arial"/>
            </a:endParaRPr>
          </a:p>
          <a:p>
            <a:pPr indent="0" lvl="0" marL="0" rtl="0" algn="l">
              <a:lnSpc>
                <a:spcPct val="115000"/>
              </a:lnSpc>
              <a:spcBef>
                <a:spcPts val="0"/>
              </a:spcBef>
              <a:spcAft>
                <a:spcPts val="0"/>
              </a:spcAft>
              <a:buNone/>
            </a:pPr>
            <a:r>
              <a:rPr lang="en-US" sz="1100">
                <a:latin typeface="Arial"/>
                <a:ea typeface="Arial"/>
                <a:cs typeface="Arial"/>
                <a:sym typeface="Arial"/>
              </a:rPr>
              <a:t>This setup reduces human effort, improves waste segregation accuracy, and enables smarter, more efficient waste-management in public and household environments. The project demonstrates how AI and IoT together can support cleaner surroundings and encourage responsible waste handling.</a:t>
            </a:r>
            <a:endParaRPr/>
          </a:p>
        </p:txBody>
      </p:sp>
      <p:sp>
        <p:nvSpPr>
          <p:cNvPr id="170" name="Google Shape;170;g3a02e1ac065_0_7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3a02e1ac065_0_8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77" name="Google Shape;177;g3a02e1ac065_0_8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8" name="Google Shape;178;g3a02e1ac065_0_8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 Id="rId3"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 name="Shape 10"/>
        <p:cNvGrpSpPr/>
        <p:nvPr/>
      </p:nvGrpSpPr>
      <p:grpSpPr>
        <a:xfrm>
          <a:off x="0" y="0"/>
          <a:ext cx="0" cy="0"/>
          <a:chOff x="0" y="0"/>
          <a:chExt cx="0" cy="0"/>
        </a:xfrm>
      </p:grpSpPr>
      <p:sp>
        <p:nvSpPr>
          <p:cNvPr id="11" name="Google Shape;11;p52"/>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Autofit/>
          </a:bodyPr>
          <a:lstStyle>
            <a:lvl1pPr lvl="0" marR="0" rtl="0" algn="ctr">
              <a:lnSpc>
                <a:spcPct val="90000"/>
              </a:lnSpc>
              <a:spcBef>
                <a:spcPts val="0"/>
              </a:spcBef>
              <a:spcAft>
                <a:spcPts val="0"/>
              </a:spcAft>
              <a:buClr>
                <a:schemeClr val="dk1"/>
              </a:buClr>
              <a:buSzPts val="6000"/>
              <a:buFont typeface="Calibri"/>
              <a:buNone/>
              <a:defRPr b="0" i="0" sz="60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2" name="Google Shape;12;p52"/>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Autofit/>
          </a:bodyPr>
          <a:lstStyle>
            <a:lvl1pPr lvl="0" marR="0" rtl="0" algn="ctr">
              <a:lnSpc>
                <a:spcPct val="90000"/>
              </a:lnSpc>
              <a:spcBef>
                <a:spcPts val="1000"/>
              </a:spcBef>
              <a:spcAft>
                <a:spcPts val="0"/>
              </a:spcAft>
              <a:buClr>
                <a:schemeClr val="dk1"/>
              </a:buClr>
              <a:buSzPts val="2400"/>
              <a:buFont typeface="Arial"/>
              <a:buNone/>
              <a:defRPr b="0" i="0" sz="2400" u="none" cap="none" strike="noStrike">
                <a:solidFill>
                  <a:schemeClr val="dk1"/>
                </a:solidFill>
                <a:latin typeface="Calibri"/>
                <a:ea typeface="Calibri"/>
                <a:cs typeface="Calibri"/>
                <a:sym typeface="Calibri"/>
              </a:defRPr>
            </a:lvl1pPr>
            <a:lvl2pPr lvl="1" marR="0" rtl="0" algn="ctr">
              <a:lnSpc>
                <a:spcPct val="90000"/>
              </a:lnSpc>
              <a:spcBef>
                <a:spcPts val="5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2pPr>
            <a:lvl3pPr lvl="2" marR="0" rtl="0" algn="ctr">
              <a:lnSpc>
                <a:spcPct val="90000"/>
              </a:lnSpc>
              <a:spcBef>
                <a:spcPts val="500"/>
              </a:spcBef>
              <a:spcAft>
                <a:spcPts val="0"/>
              </a:spcAft>
              <a:buClr>
                <a:schemeClr val="dk1"/>
              </a:buClr>
              <a:buSzPts val="1800"/>
              <a:buFont typeface="Arial"/>
              <a:buNone/>
              <a:defRPr b="0" i="0" sz="1800" u="none" cap="none" strike="noStrike">
                <a:solidFill>
                  <a:schemeClr val="dk1"/>
                </a:solidFill>
                <a:latin typeface="Calibri"/>
                <a:ea typeface="Calibri"/>
                <a:cs typeface="Calibri"/>
                <a:sym typeface="Calibri"/>
              </a:defRPr>
            </a:lvl3pPr>
            <a:lvl4pPr lvl="3"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4pPr>
            <a:lvl5pPr lvl="4"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5pPr>
            <a:lvl6pPr lvl="5"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6pPr>
            <a:lvl7pPr lvl="6"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7pPr>
            <a:lvl8pPr lvl="7"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8pPr>
            <a:lvl9pPr lvl="8"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9pPr>
          </a:lstStyle>
          <a:p/>
        </p:txBody>
      </p:sp>
      <p:sp>
        <p:nvSpPr>
          <p:cNvPr id="13" name="Google Shape;13;p52"/>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52"/>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5" name="Google Shape;15;p52"/>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
        <p:nvSpPr>
          <p:cNvPr id="16" name="Google Shape;16;p52"/>
          <p:cNvSpPr/>
          <p:nvPr/>
        </p:nvSpPr>
        <p:spPr>
          <a:xfrm>
            <a:off x="0" y="0"/>
            <a:ext cx="12192000" cy="6858000"/>
          </a:xfrm>
          <a:prstGeom prst="rect">
            <a:avLst/>
          </a:prstGeom>
          <a:solidFill>
            <a:srgbClr val="D7AC5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17" name="Shape 17"/>
        <p:cNvGrpSpPr/>
        <p:nvPr/>
      </p:nvGrpSpPr>
      <p:grpSpPr>
        <a:xfrm>
          <a:off x="0" y="0"/>
          <a:ext cx="0" cy="0"/>
          <a:chOff x="0" y="0"/>
          <a:chExt cx="0" cy="0"/>
        </a:xfrm>
      </p:grpSpPr>
      <p:pic>
        <p:nvPicPr>
          <p:cNvPr descr="A white and gold rectangles&#10;&#10;Description automatically generated with low confidence" id="18" name="Google Shape;18;p53"/>
          <p:cNvPicPr preferRelativeResize="0"/>
          <p:nvPr/>
        </p:nvPicPr>
        <p:blipFill rotWithShape="1">
          <a:blip r:embed="rId2">
            <a:alphaModFix amt="20000"/>
          </a:blip>
          <a:srcRect b="0" l="0" r="0" t="0"/>
          <a:stretch/>
        </p:blipFill>
        <p:spPr>
          <a:xfrm>
            <a:off x="0" y="15766"/>
            <a:ext cx="12192000" cy="6858000"/>
          </a:xfrm>
          <a:prstGeom prst="rect">
            <a:avLst/>
          </a:prstGeom>
          <a:noFill/>
          <a:ln>
            <a:noFill/>
          </a:ln>
        </p:spPr>
      </p:pic>
      <p:pic>
        <p:nvPicPr>
          <p:cNvPr descr="A picture containing text, logo, font, graphics&#10;&#10;Description automatically generated" id="19" name="Google Shape;19;p53"/>
          <p:cNvPicPr preferRelativeResize="0"/>
          <p:nvPr/>
        </p:nvPicPr>
        <p:blipFill rotWithShape="1">
          <a:blip r:embed="rId3">
            <a:alphaModFix/>
          </a:blip>
          <a:srcRect b="0" l="0" r="0" t="0"/>
          <a:stretch/>
        </p:blipFill>
        <p:spPr>
          <a:xfrm>
            <a:off x="9503376" y="1"/>
            <a:ext cx="2688624" cy="1511300"/>
          </a:xfrm>
          <a:prstGeom prst="rect">
            <a:avLst/>
          </a:prstGeom>
          <a:noFill/>
          <a:ln>
            <a:noFill/>
          </a:ln>
        </p:spPr>
      </p:pic>
      <p:sp>
        <p:nvSpPr>
          <p:cNvPr id="20" name="Google Shape;20;p53"/>
          <p:cNvSpPr/>
          <p:nvPr/>
        </p:nvSpPr>
        <p:spPr>
          <a:xfrm>
            <a:off x="0" y="6235701"/>
            <a:ext cx="12192000" cy="622299"/>
          </a:xfrm>
          <a:prstGeom prst="round2SameRect">
            <a:avLst>
              <a:gd fmla="val 50000" name="adj1"/>
              <a:gd fmla="val 0" name="adj2"/>
            </a:avLst>
          </a:prstGeom>
          <a:solidFill>
            <a:srgbClr val="23303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1" name="Google Shape;21;p53"/>
          <p:cNvSpPr/>
          <p:nvPr/>
        </p:nvSpPr>
        <p:spPr>
          <a:xfrm>
            <a:off x="0" y="6812280"/>
            <a:ext cx="12192000" cy="45719"/>
          </a:xfrm>
          <a:prstGeom prst="round2SameRect">
            <a:avLst>
              <a:gd fmla="val 0" name="adj1"/>
              <a:gd fmla="val 0" name="adj2"/>
            </a:avLst>
          </a:prstGeom>
          <a:solidFill>
            <a:srgbClr val="D7AC5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2" name="Google Shape;22;p53"/>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3" name="Google Shape;23;p53"/>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800"/>
              <a:buFont typeface="Arial"/>
              <a:buNone/>
              <a:defRPr b="0" i="0" sz="1800" u="none" cap="none" strike="noStrike">
                <a:solidFill>
                  <a:schemeClr val="lt1"/>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800"/>
              <a:buFont typeface="Arial"/>
              <a:buNone/>
              <a:defRPr b="0" i="0" sz="1800" u="none" cap="none" strike="noStrike">
                <a:solidFill>
                  <a:schemeClr val="lt1"/>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800"/>
              <a:buFont typeface="Arial"/>
              <a:buNone/>
              <a:defRPr b="0" i="0" sz="1800" u="none" cap="none" strike="noStrike">
                <a:solidFill>
                  <a:schemeClr val="lt1"/>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800"/>
              <a:buFont typeface="Arial"/>
              <a:buNone/>
              <a:defRPr b="0" i="0" sz="1800" u="none" cap="none" strike="noStrike">
                <a:solidFill>
                  <a:schemeClr val="lt1"/>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800"/>
              <a:buFont typeface="Arial"/>
              <a:buNone/>
              <a:defRPr b="0" i="0" sz="1800" u="none" cap="none" strike="noStrike">
                <a:solidFill>
                  <a:schemeClr val="lt1"/>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800"/>
              <a:buFont typeface="Arial"/>
              <a:buNone/>
              <a:defRPr b="0" i="0" sz="1800" u="none" cap="none" strike="noStrike">
                <a:solidFill>
                  <a:schemeClr val="lt1"/>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800"/>
              <a:buFont typeface="Arial"/>
              <a:buNone/>
              <a:defRPr b="0" i="0" sz="1800" u="none" cap="none" strike="noStrike">
                <a:solidFill>
                  <a:schemeClr val="lt1"/>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800"/>
              <a:buFont typeface="Arial"/>
              <a:buNone/>
              <a:defRPr b="0" i="0" sz="1800" u="none" cap="none" strike="noStrike">
                <a:solidFill>
                  <a:schemeClr val="lt1"/>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800"/>
              <a:buFont typeface="Arial"/>
              <a:buNone/>
              <a:defRPr b="0" i="0" sz="18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24" name="Google Shape;24;p53"/>
          <p:cNvSpPr txBox="1"/>
          <p:nvPr>
            <p:ph idx="1" type="body"/>
          </p:nvPr>
        </p:nvSpPr>
        <p:spPr>
          <a:xfrm>
            <a:off x="189186" y="1825625"/>
            <a:ext cx="118872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5" name="Shape 25"/>
        <p:cNvGrpSpPr/>
        <p:nvPr/>
      </p:nvGrpSpPr>
      <p:grpSpPr>
        <a:xfrm>
          <a:off x="0" y="0"/>
          <a:ext cx="0" cy="0"/>
          <a:chOff x="0" y="0"/>
          <a:chExt cx="0" cy="0"/>
        </a:xfrm>
      </p:grpSpPr>
      <p:sp>
        <p:nvSpPr>
          <p:cNvPr id="26" name="Google Shape;26;p54"/>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6000"/>
              <a:buFont typeface="Calibri"/>
              <a:buNone/>
              <a:defRPr b="0" i="0" sz="60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7" name="Google Shape;27;p54"/>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888888"/>
              </a:buClr>
              <a:buSzPts val="2400"/>
              <a:buFont typeface="Arial"/>
              <a:buNone/>
              <a:defRPr b="0" i="0" sz="2400" u="none" cap="none" strike="noStrike">
                <a:solidFill>
                  <a:srgbClr val="888888"/>
                </a:solidFill>
                <a:latin typeface="Calibri"/>
                <a:ea typeface="Calibri"/>
                <a:cs typeface="Calibri"/>
                <a:sym typeface="Calibri"/>
              </a:defRPr>
            </a:lvl1pPr>
            <a:lvl2pPr indent="-228600" lvl="1" marL="914400" marR="0" rtl="0" algn="l">
              <a:lnSpc>
                <a:spcPct val="90000"/>
              </a:lnSpc>
              <a:spcBef>
                <a:spcPts val="5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2pPr>
            <a:lvl3pPr indent="-228600" lvl="2" marL="1371600" marR="0" rtl="0" algn="l">
              <a:lnSpc>
                <a:spcPct val="90000"/>
              </a:lnSpc>
              <a:spcBef>
                <a:spcPts val="500"/>
              </a:spcBef>
              <a:spcAft>
                <a:spcPts val="0"/>
              </a:spcAft>
              <a:buClr>
                <a:srgbClr val="888888"/>
              </a:buClr>
              <a:buSzPts val="1800"/>
              <a:buFont typeface="Arial"/>
              <a:buNone/>
              <a:defRPr b="0" i="0" sz="1800" u="none" cap="none" strike="noStrike">
                <a:solidFill>
                  <a:srgbClr val="888888"/>
                </a:solidFill>
                <a:latin typeface="Calibri"/>
                <a:ea typeface="Calibri"/>
                <a:cs typeface="Calibri"/>
                <a:sym typeface="Calibri"/>
              </a:defRPr>
            </a:lvl3pPr>
            <a:lvl4pPr indent="-228600" lvl="3" marL="1828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4pPr>
            <a:lvl5pPr indent="-228600" lvl="4" marL="22860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5pPr>
            <a:lvl6pPr indent="-228600" lvl="5" marL="27432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6pPr>
            <a:lvl7pPr indent="-228600" lvl="6" marL="32004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7pPr>
            <a:lvl8pPr indent="-228600" lvl="7" marL="36576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8pPr>
            <a:lvl9pPr indent="-228600" lvl="8" marL="4114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9pPr>
          </a:lstStyle>
          <a:p/>
        </p:txBody>
      </p:sp>
      <p:sp>
        <p:nvSpPr>
          <p:cNvPr id="28" name="Google Shape;28;p54"/>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9" name="Google Shape;29;p54"/>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30" name="Google Shape;30;p54"/>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1" name="Shape 31"/>
        <p:cNvGrpSpPr/>
        <p:nvPr/>
      </p:nvGrpSpPr>
      <p:grpSpPr>
        <a:xfrm>
          <a:off x="0" y="0"/>
          <a:ext cx="0" cy="0"/>
          <a:chOff x="0" y="0"/>
          <a:chExt cx="0" cy="0"/>
        </a:xfrm>
      </p:grpSpPr>
      <p:sp>
        <p:nvSpPr>
          <p:cNvPr id="32" name="Google Shape;32;p55"/>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33" name="Google Shape;33;p55"/>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34" name="Google Shape;34;p55"/>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35" name="Google Shape;35;p55"/>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36" name="Google Shape;36;p55"/>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37" name="Google Shape;37;p55"/>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8" name="Shape 38"/>
        <p:cNvGrpSpPr/>
        <p:nvPr/>
      </p:nvGrpSpPr>
      <p:grpSpPr>
        <a:xfrm>
          <a:off x="0" y="0"/>
          <a:ext cx="0" cy="0"/>
          <a:chOff x="0" y="0"/>
          <a:chExt cx="0" cy="0"/>
        </a:xfrm>
      </p:grpSpPr>
      <p:sp>
        <p:nvSpPr>
          <p:cNvPr id="39" name="Google Shape;39;p56"/>
          <p:cNvSpPr txBox="1"/>
          <p:nvPr>
            <p:ph type="title"/>
          </p:nvPr>
        </p:nvSpPr>
        <p:spPr>
          <a:xfrm>
            <a:off x="839788"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40" name="Google Shape;40;p56"/>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41" name="Google Shape;41;p56"/>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42" name="Google Shape;42;p56"/>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43" name="Google Shape;43;p56"/>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44" name="Google Shape;44;p56"/>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5" name="Google Shape;45;p56"/>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6" name="Google Shape;46;p56"/>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7" name="Shape 47"/>
        <p:cNvGrpSpPr/>
        <p:nvPr/>
      </p:nvGrpSpPr>
      <p:grpSpPr>
        <a:xfrm>
          <a:off x="0" y="0"/>
          <a:ext cx="0" cy="0"/>
          <a:chOff x="0" y="0"/>
          <a:chExt cx="0" cy="0"/>
        </a:xfrm>
      </p:grpSpPr>
      <p:sp>
        <p:nvSpPr>
          <p:cNvPr id="48" name="Google Shape;48;p57"/>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49" name="Google Shape;49;p57"/>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0" name="Google Shape;50;p5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1" name="Google Shape;51;p5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2" name="Shape 52"/>
        <p:cNvGrpSpPr/>
        <p:nvPr/>
      </p:nvGrpSpPr>
      <p:grpSpPr>
        <a:xfrm>
          <a:off x="0" y="0"/>
          <a:ext cx="0" cy="0"/>
          <a:chOff x="0" y="0"/>
          <a:chExt cx="0" cy="0"/>
        </a:xfrm>
      </p:grpSpPr>
      <p:sp>
        <p:nvSpPr>
          <p:cNvPr id="53" name="Google Shape;53;p58"/>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4" name="Google Shape;54;p58"/>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5" name="Google Shape;55;p58"/>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6" name="Shape 56"/>
        <p:cNvGrpSpPr/>
        <p:nvPr/>
      </p:nvGrpSpPr>
      <p:grpSpPr>
        <a:xfrm>
          <a:off x="0" y="0"/>
          <a:ext cx="0" cy="0"/>
          <a:chOff x="0" y="0"/>
          <a:chExt cx="0" cy="0"/>
        </a:xfrm>
      </p:grpSpPr>
      <p:sp>
        <p:nvSpPr>
          <p:cNvPr id="57" name="Google Shape;57;p5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58" name="Google Shape;58;p59"/>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Autofit/>
          </a:bodyPr>
          <a:lstStyle>
            <a:lvl1pPr indent="-431800" lvl="0" marL="457200" marR="0" rtl="0" algn="l">
              <a:lnSpc>
                <a:spcPct val="90000"/>
              </a:lnSpc>
              <a:spcBef>
                <a:spcPts val="100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90000"/>
              </a:lnSpc>
              <a:spcBef>
                <a:spcPts val="5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59" name="Google Shape;59;p59"/>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60" name="Google Shape;60;p59"/>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61" name="Google Shape;61;p59"/>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62" name="Google Shape;62;p59"/>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3" name="Shape 63"/>
        <p:cNvGrpSpPr/>
        <p:nvPr/>
      </p:nvGrpSpPr>
      <p:grpSpPr>
        <a:xfrm>
          <a:off x="0" y="0"/>
          <a:ext cx="0" cy="0"/>
          <a:chOff x="0" y="0"/>
          <a:chExt cx="0" cy="0"/>
        </a:xfrm>
      </p:grpSpPr>
      <p:sp>
        <p:nvSpPr>
          <p:cNvPr id="64" name="Google Shape;64;p6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65" name="Google Shape;65;p60"/>
          <p:cNvSpPr/>
          <p:nvPr>
            <p:ph idx="2" type="pic"/>
          </p:nvPr>
        </p:nvSpPr>
        <p:spPr>
          <a:xfrm>
            <a:off x="5183188" y="987425"/>
            <a:ext cx="6172200" cy="4873625"/>
          </a:xfrm>
          <a:prstGeom prst="rect">
            <a:avLst/>
          </a:prstGeom>
          <a:noFill/>
          <a:ln>
            <a:noFill/>
          </a:ln>
        </p:spPr>
      </p:sp>
      <p:sp>
        <p:nvSpPr>
          <p:cNvPr id="66" name="Google Shape;66;p60"/>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67" name="Google Shape;67;p60"/>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68" name="Google Shape;68;p60"/>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69" name="Google Shape;69;p60"/>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0" name="Shape 70"/>
        <p:cNvGrpSpPr/>
        <p:nvPr/>
      </p:nvGrpSpPr>
      <p:grpSpPr>
        <a:xfrm>
          <a:off x="0" y="0"/>
          <a:ext cx="0" cy="0"/>
          <a:chOff x="0" y="0"/>
          <a:chExt cx="0" cy="0"/>
        </a:xfrm>
      </p:grpSpPr>
      <p:sp>
        <p:nvSpPr>
          <p:cNvPr id="71" name="Google Shape;71;p61"/>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2" name="Google Shape;72;p61"/>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73" name="Google Shape;73;p61"/>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74" name="Google Shape;74;p61"/>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75" name="Google Shape;75;p61"/>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6" name="Shape 76"/>
        <p:cNvGrpSpPr/>
        <p:nvPr/>
      </p:nvGrpSpPr>
      <p:grpSpPr>
        <a:xfrm>
          <a:off x="0" y="0"/>
          <a:ext cx="0" cy="0"/>
          <a:chOff x="0" y="0"/>
          <a:chExt cx="0" cy="0"/>
        </a:xfrm>
      </p:grpSpPr>
      <p:sp>
        <p:nvSpPr>
          <p:cNvPr id="77" name="Google Shape;77;p62"/>
          <p:cNvSpPr txBox="1"/>
          <p:nvPr>
            <p:ph type="title"/>
          </p:nvPr>
        </p:nvSpPr>
        <p:spPr>
          <a:xfrm rot="5400000">
            <a:off x="7133431" y="1956594"/>
            <a:ext cx="5811838" cy="26289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8" name="Google Shape;78;p62"/>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79" name="Google Shape;79;p62"/>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0" name="Google Shape;80;p62"/>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1" name="Google Shape;81;p62"/>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jp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6.xml"/><Relationship Id="rId3"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hyperlink" Target="https://www.kaggle.com/code/trident3/waste-classification-with-cnn-with-h5-model" TargetMode="External"/><Relationship Id="rId4" Type="http://schemas.openxmlformats.org/officeDocument/2006/relationships/hyperlink" Target="https://www.kaggle.com/code/trident3/waste-classification-with-cnn-with-h5-model" TargetMode="External"/><Relationship Id="rId5" Type="http://schemas.openxmlformats.org/officeDocument/2006/relationships/hyperlink" Target="https://www.kaggle.com/code/trident3/waste-classification-with-cnn-with-h5-model" TargetMode="External"/><Relationship Id="rId6" Type="http://schemas.openxmlformats.org/officeDocument/2006/relationships/hyperlink" Target="https://www.espressif.com" TargetMode="External"/><Relationship Id="rId7" Type="http://schemas.openxmlformats.org/officeDocument/2006/relationships/hyperlink" Target="https://www.espressif.com"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pic>
        <p:nvPicPr>
          <p:cNvPr descr="A group of people walking in front of a building&#10;&#10;Description automatically generated" id="86" name="Google Shape;86;p1"/>
          <p:cNvPicPr preferRelativeResize="0"/>
          <p:nvPr/>
        </p:nvPicPr>
        <p:blipFill rotWithShape="1">
          <a:blip r:embed="rId3">
            <a:alphaModFix amt="35000"/>
          </a:blip>
          <a:srcRect b="0" l="0" r="0" t="20312"/>
          <a:stretch/>
        </p:blipFill>
        <p:spPr>
          <a:xfrm>
            <a:off x="0" y="-18662"/>
            <a:ext cx="12192000" cy="6858000"/>
          </a:xfrm>
          <a:prstGeom prst="rect">
            <a:avLst/>
          </a:prstGeom>
          <a:noFill/>
          <a:ln cap="flat" cmpd="sng" w="76200">
            <a:solidFill>
              <a:srgbClr val="233039"/>
            </a:solidFill>
            <a:prstDash val="solid"/>
            <a:round/>
            <a:headEnd len="sm" w="sm" type="none"/>
            <a:tailEnd len="sm" w="sm" type="none"/>
          </a:ln>
        </p:spPr>
      </p:pic>
      <p:pic>
        <p:nvPicPr>
          <p:cNvPr descr="A picture containing text, logo, font, graphics&#10;&#10;Description automatically generated" id="87" name="Google Shape;87;p1"/>
          <p:cNvPicPr preferRelativeResize="0"/>
          <p:nvPr/>
        </p:nvPicPr>
        <p:blipFill rotWithShape="1">
          <a:blip r:embed="rId4">
            <a:alphaModFix/>
          </a:blip>
          <a:srcRect b="0" l="0" r="0" t="0"/>
          <a:stretch/>
        </p:blipFill>
        <p:spPr>
          <a:xfrm>
            <a:off x="9326562" y="0"/>
            <a:ext cx="2865438" cy="1610689"/>
          </a:xfrm>
          <a:prstGeom prst="rect">
            <a:avLst/>
          </a:prstGeom>
          <a:noFill/>
          <a:ln>
            <a:noFill/>
          </a:ln>
        </p:spPr>
      </p:pic>
      <p:sp>
        <p:nvSpPr>
          <p:cNvPr id="88" name="Google Shape;88;p1"/>
          <p:cNvSpPr/>
          <p:nvPr/>
        </p:nvSpPr>
        <p:spPr>
          <a:xfrm>
            <a:off x="0" y="6388100"/>
            <a:ext cx="12192000" cy="127000"/>
          </a:xfrm>
          <a:prstGeom prst="rect">
            <a:avLst/>
          </a:prstGeom>
          <a:solidFill>
            <a:srgbClr val="23303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9" name="Google Shape;89;p1"/>
          <p:cNvSpPr/>
          <p:nvPr/>
        </p:nvSpPr>
        <p:spPr>
          <a:xfrm flipH="1" rot="10800000">
            <a:off x="0" y="6573518"/>
            <a:ext cx="12192000" cy="45719"/>
          </a:xfrm>
          <a:prstGeom prst="rect">
            <a:avLst/>
          </a:prstGeom>
          <a:solidFill>
            <a:srgbClr val="23303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90" name="Google Shape;90;p1"/>
          <p:cNvSpPr txBox="1"/>
          <p:nvPr>
            <p:ph idx="1" type="subTitle"/>
          </p:nvPr>
        </p:nvSpPr>
        <p:spPr>
          <a:xfrm>
            <a:off x="429208" y="2407719"/>
            <a:ext cx="10238792" cy="1655762"/>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1000"/>
              </a:spcBef>
              <a:spcAft>
                <a:spcPts val="0"/>
              </a:spcAft>
              <a:buSzPts val="2400"/>
              <a:buNone/>
            </a:pPr>
            <a:r>
              <a:rPr b="1" lang="en-US">
                <a:solidFill>
                  <a:schemeClr val="dk1"/>
                </a:solidFill>
                <a:latin typeface="Times New Roman"/>
                <a:ea typeface="Times New Roman"/>
                <a:cs typeface="Times New Roman"/>
                <a:sym typeface="Times New Roman"/>
              </a:rPr>
              <a:t>PROJECT TOPIC: Smart Waste Bin using IoT Sensors &amp; Machine Learning</a:t>
            </a:r>
            <a:endParaRPr/>
          </a:p>
        </p:txBody>
      </p:sp>
      <p:sp>
        <p:nvSpPr>
          <p:cNvPr id="91" name="Google Shape;91;p1"/>
          <p:cNvSpPr txBox="1"/>
          <p:nvPr/>
        </p:nvSpPr>
        <p:spPr>
          <a:xfrm>
            <a:off x="366227" y="3902401"/>
            <a:ext cx="7985400" cy="2031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Times New Roman"/>
                <a:ea typeface="Times New Roman"/>
                <a:cs typeface="Times New Roman"/>
                <a:sym typeface="Times New Roman"/>
              </a:rPr>
              <a:t>Presentation By: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Times New Roman"/>
                <a:ea typeface="Times New Roman"/>
                <a:cs typeface="Times New Roman"/>
                <a:sym typeface="Times New Roman"/>
              </a:rPr>
              <a:t>Name1: Aneesh Adithya SR                 		USN1:1RVU23CSE054</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Times New Roman"/>
                <a:ea typeface="Times New Roman"/>
                <a:cs typeface="Times New Roman"/>
                <a:sym typeface="Times New Roman"/>
              </a:rPr>
              <a:t>Name2: </a:t>
            </a:r>
            <a:r>
              <a:rPr lang="en-US" sz="1800">
                <a:solidFill>
                  <a:schemeClr val="dk1"/>
                </a:solidFill>
                <a:latin typeface="Times New Roman"/>
                <a:ea typeface="Times New Roman"/>
                <a:cs typeface="Times New Roman"/>
                <a:sym typeface="Times New Roman"/>
              </a:rPr>
              <a:t>Amogh Madhu Kashyap</a:t>
            </a:r>
            <a:r>
              <a:rPr b="0" i="0" lang="en-US" sz="1800" u="none" cap="none" strike="noStrike">
                <a:solidFill>
                  <a:schemeClr val="dk1"/>
                </a:solidFill>
                <a:latin typeface="Times New Roman"/>
                <a:ea typeface="Times New Roman"/>
                <a:cs typeface="Times New Roman"/>
                <a:sym typeface="Times New Roman"/>
              </a:rPr>
              <a:t>                	USN2:</a:t>
            </a:r>
            <a:r>
              <a:rPr lang="en-US" sz="1800">
                <a:solidFill>
                  <a:schemeClr val="dk1"/>
                </a:solidFill>
                <a:latin typeface="Times New Roman"/>
                <a:ea typeface="Times New Roman"/>
                <a:cs typeface="Times New Roman"/>
                <a:sym typeface="Times New Roman"/>
              </a:rPr>
              <a:t>1RVU23CSE045</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Times New Roman"/>
                <a:ea typeface="Times New Roman"/>
                <a:cs typeface="Times New Roman"/>
                <a:sym typeface="Times New Roman"/>
              </a:rPr>
              <a:t>Name3: </a:t>
            </a:r>
            <a:r>
              <a:rPr lang="en-US" sz="1800">
                <a:solidFill>
                  <a:schemeClr val="dk1"/>
                </a:solidFill>
                <a:latin typeface="Times New Roman"/>
                <a:ea typeface="Times New Roman"/>
                <a:cs typeface="Times New Roman"/>
                <a:sym typeface="Times New Roman"/>
              </a:rPr>
              <a:t>Rajath D Kudur</a:t>
            </a:r>
            <a:r>
              <a:rPr b="0" i="0" lang="en-US" sz="1800" u="none" cap="none" strike="noStrike">
                <a:solidFill>
                  <a:schemeClr val="dk1"/>
                </a:solidFill>
                <a:latin typeface="Times New Roman"/>
                <a:ea typeface="Times New Roman"/>
                <a:cs typeface="Times New Roman"/>
                <a:sym typeface="Times New Roman"/>
              </a:rPr>
              <a:t>                 		USN3:</a:t>
            </a:r>
            <a:r>
              <a:rPr lang="en-US" sz="1800">
                <a:solidFill>
                  <a:schemeClr val="dk1"/>
                </a:solidFill>
                <a:latin typeface="Times New Roman"/>
                <a:ea typeface="Times New Roman"/>
                <a:cs typeface="Times New Roman"/>
                <a:sym typeface="Times New Roman"/>
              </a:rPr>
              <a:t>1RVU23CSE366</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Times New Roman"/>
                <a:ea typeface="Times New Roman"/>
                <a:cs typeface="Times New Roman"/>
                <a:sym typeface="Times New Roman"/>
              </a:rPr>
              <a:t>Name4:Vaibhav M Chittakki</a:t>
            </a:r>
            <a:r>
              <a:rPr b="0" i="0" lang="en-US" sz="1800" u="none" cap="none" strike="noStrike">
                <a:solidFill>
                  <a:schemeClr val="dk1"/>
                </a:solidFill>
                <a:latin typeface="Times New Roman"/>
                <a:ea typeface="Times New Roman"/>
                <a:cs typeface="Times New Roman"/>
                <a:sym typeface="Times New Roman"/>
              </a:rPr>
              <a:t>	</a:t>
            </a:r>
            <a:r>
              <a:rPr b="0" i="0" lang="en-US" sz="1800" u="none" cap="none" strike="noStrike">
                <a:solidFill>
                  <a:schemeClr val="dk1"/>
                </a:solidFill>
                <a:latin typeface="Times New Roman"/>
                <a:ea typeface="Times New Roman"/>
                <a:cs typeface="Times New Roman"/>
                <a:sym typeface="Times New Roman"/>
              </a:rPr>
              <a:t>			USN4:1RUA24CSE7019</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Times New Roman"/>
              <a:ea typeface="Times New Roman"/>
              <a:cs typeface="Times New Roman"/>
              <a:sym typeface="Times New Roman"/>
            </a:endParaRPr>
          </a:p>
        </p:txBody>
      </p:sp>
      <p:sp>
        <p:nvSpPr>
          <p:cNvPr id="92" name="Google Shape;92;p1"/>
          <p:cNvSpPr txBox="1"/>
          <p:nvPr/>
        </p:nvSpPr>
        <p:spPr>
          <a:xfrm>
            <a:off x="7579360" y="2446055"/>
            <a:ext cx="6177300" cy="2586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Times New Roman"/>
                <a:ea typeface="Times New Roman"/>
                <a:cs typeface="Times New Roman"/>
                <a:sym typeface="Times New Roman"/>
              </a:rPr>
              <a:t>           </a:t>
            </a:r>
            <a:endParaRPr b="1" i="0" sz="18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Times New Roman"/>
                <a:ea typeface="Times New Roman"/>
                <a:cs typeface="Times New Roman"/>
                <a:sym typeface="Times New Roman"/>
              </a:rPr>
              <a:t> Guide:</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Times New Roman"/>
                <a:ea typeface="Times New Roman"/>
                <a:cs typeface="Times New Roman"/>
                <a:sym typeface="Times New Roman"/>
              </a:rPr>
              <a:t>Name: </a:t>
            </a:r>
            <a:r>
              <a:rPr lang="en-US"/>
              <a:t>Prof. Monesh N</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Times New Roman"/>
                <a:ea typeface="Times New Roman"/>
                <a:cs typeface="Times New Roman"/>
                <a:sym typeface="Times New Roman"/>
              </a:rPr>
              <a:t>School:</a:t>
            </a:r>
            <a:r>
              <a:rPr lang="en-US"/>
              <a:t> </a:t>
            </a:r>
            <a:r>
              <a:rPr b="0" i="0" lang="en-US" sz="1800" u="none" cap="none" strike="noStrike">
                <a:solidFill>
                  <a:schemeClr val="dk1"/>
                </a:solidFill>
                <a:latin typeface="Times New Roman"/>
                <a:ea typeface="Times New Roman"/>
                <a:cs typeface="Times New Roman"/>
                <a:sym typeface="Times New Roman"/>
              </a:rPr>
              <a:t>RV University</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63"/>
          <p:cNvSpPr txBox="1"/>
          <p:nvPr>
            <p:ph idx="10" type="dt"/>
          </p:nvPr>
        </p:nvSpPr>
        <p:spPr>
          <a:xfrm>
            <a:off x="2758751" y="6330561"/>
            <a:ext cx="5851800" cy="5016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SzPts val="1400"/>
              <a:buNone/>
            </a:pPr>
            <a:r>
              <a:rPr lang="en-US"/>
              <a:t>SOCSE, RV University</a:t>
            </a:r>
            <a:endParaRPr/>
          </a:p>
        </p:txBody>
      </p:sp>
      <p:sp>
        <p:nvSpPr>
          <p:cNvPr id="98" name="Google Shape;98;p63"/>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
        <p:nvSpPr>
          <p:cNvPr id="99" name="Google Shape;99;p63"/>
          <p:cNvSpPr txBox="1"/>
          <p:nvPr/>
        </p:nvSpPr>
        <p:spPr>
          <a:xfrm>
            <a:off x="4903142" y="656277"/>
            <a:ext cx="1741182" cy="5232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800"/>
              <a:buFont typeface="Arial"/>
              <a:buNone/>
            </a:pPr>
            <a:r>
              <a:rPr b="1" i="0" lang="en-US" sz="2800" u="none" cap="none" strike="noStrike">
                <a:solidFill>
                  <a:srgbClr val="000000"/>
                </a:solidFill>
                <a:latin typeface="Times New Roman"/>
                <a:ea typeface="Times New Roman"/>
                <a:cs typeface="Times New Roman"/>
                <a:sym typeface="Times New Roman"/>
              </a:rPr>
              <a:t>AGENDA</a:t>
            </a:r>
            <a:endParaRPr b="0" i="0" sz="1400" u="none" cap="none" strike="noStrike">
              <a:solidFill>
                <a:srgbClr val="000000"/>
              </a:solidFill>
              <a:latin typeface="Arial"/>
              <a:ea typeface="Arial"/>
              <a:cs typeface="Arial"/>
              <a:sym typeface="Arial"/>
            </a:endParaRPr>
          </a:p>
        </p:txBody>
      </p:sp>
      <p:sp>
        <p:nvSpPr>
          <p:cNvPr id="100" name="Google Shape;100;p63"/>
          <p:cNvSpPr txBox="1"/>
          <p:nvPr/>
        </p:nvSpPr>
        <p:spPr>
          <a:xfrm>
            <a:off x="283450" y="1437175"/>
            <a:ext cx="11610000" cy="4680600"/>
          </a:xfrm>
          <a:prstGeom prst="rect">
            <a:avLst/>
          </a:prstGeom>
          <a:noFill/>
          <a:ln>
            <a:noFill/>
          </a:ln>
        </p:spPr>
        <p:txBody>
          <a:bodyPr anchorCtr="0" anchor="t" bIns="91425" lIns="91425" spcFirstLastPara="1" rIns="91425" wrap="square" tIns="91425">
            <a:noAutofit/>
          </a:bodyPr>
          <a:lstStyle/>
          <a:p>
            <a:pPr indent="-209550" lvl="0" marL="285750" marR="0" rtl="0" algn="l">
              <a:lnSpc>
                <a:spcPct val="150000"/>
              </a:lnSpc>
              <a:spcBef>
                <a:spcPts val="1000"/>
              </a:spcBef>
              <a:spcAft>
                <a:spcPts val="0"/>
              </a:spcAft>
              <a:buClr>
                <a:schemeClr val="dk1"/>
              </a:buClr>
              <a:buSzPts val="1600"/>
              <a:buFont typeface="Arial"/>
              <a:buChar char="•"/>
            </a:pPr>
            <a:r>
              <a:rPr b="0" i="0" lang="en-US" sz="1600" u="none" cap="none" strike="noStrike">
                <a:solidFill>
                  <a:schemeClr val="dk1"/>
                </a:solidFill>
                <a:latin typeface="Times New Roman"/>
                <a:ea typeface="Times New Roman"/>
                <a:cs typeface="Times New Roman"/>
                <a:sym typeface="Times New Roman"/>
              </a:rPr>
              <a:t>INTRODUCTION</a:t>
            </a:r>
            <a:endParaRPr b="0" i="0" sz="1600" u="none" cap="none" strike="noStrike">
              <a:solidFill>
                <a:schemeClr val="dk1"/>
              </a:solidFill>
              <a:latin typeface="Calibri"/>
              <a:ea typeface="Calibri"/>
              <a:cs typeface="Calibri"/>
              <a:sym typeface="Calibri"/>
            </a:endParaRPr>
          </a:p>
          <a:p>
            <a:pPr indent="-209550" lvl="0" marL="285750" marR="0" rtl="0" algn="l">
              <a:lnSpc>
                <a:spcPct val="150000"/>
              </a:lnSpc>
              <a:spcBef>
                <a:spcPts val="1000"/>
              </a:spcBef>
              <a:spcAft>
                <a:spcPts val="0"/>
              </a:spcAft>
              <a:buClr>
                <a:schemeClr val="dk1"/>
              </a:buClr>
              <a:buSzPts val="1600"/>
              <a:buFont typeface="Arial"/>
              <a:buChar char="•"/>
            </a:pPr>
            <a:r>
              <a:rPr b="0" i="0" lang="en-US" sz="1600" u="none" cap="none" strike="noStrike">
                <a:solidFill>
                  <a:schemeClr val="dk1"/>
                </a:solidFill>
                <a:latin typeface="Times New Roman"/>
                <a:ea typeface="Times New Roman"/>
                <a:cs typeface="Times New Roman"/>
                <a:sym typeface="Times New Roman"/>
              </a:rPr>
              <a:t>PROBLEM DEFINITION</a:t>
            </a:r>
            <a:endParaRPr b="0" i="0" sz="1600" u="none" cap="none" strike="noStrike">
              <a:solidFill>
                <a:schemeClr val="dk1"/>
              </a:solidFill>
              <a:latin typeface="Calibri"/>
              <a:ea typeface="Calibri"/>
              <a:cs typeface="Calibri"/>
              <a:sym typeface="Calibri"/>
            </a:endParaRPr>
          </a:p>
          <a:p>
            <a:pPr indent="-209550" lvl="0" marL="285750" marR="0" rtl="0" algn="l">
              <a:lnSpc>
                <a:spcPct val="150000"/>
              </a:lnSpc>
              <a:spcBef>
                <a:spcPts val="1000"/>
              </a:spcBef>
              <a:spcAft>
                <a:spcPts val="0"/>
              </a:spcAft>
              <a:buClr>
                <a:schemeClr val="dk1"/>
              </a:buClr>
              <a:buSzPts val="1600"/>
              <a:buFont typeface="Arial"/>
              <a:buChar char="•"/>
            </a:pPr>
            <a:r>
              <a:rPr b="0" i="0" lang="en-US" sz="1600" u="none" cap="none" strike="noStrike">
                <a:solidFill>
                  <a:schemeClr val="dk1"/>
                </a:solidFill>
                <a:latin typeface="Times New Roman"/>
                <a:ea typeface="Times New Roman"/>
                <a:cs typeface="Times New Roman"/>
                <a:sym typeface="Times New Roman"/>
              </a:rPr>
              <a:t>OBJECTIVES OF PROJECT</a:t>
            </a:r>
            <a:endParaRPr b="0" i="0" sz="1600" u="none" cap="none" strike="noStrike">
              <a:solidFill>
                <a:schemeClr val="dk1"/>
              </a:solidFill>
              <a:latin typeface="Calibri"/>
              <a:ea typeface="Calibri"/>
              <a:cs typeface="Calibri"/>
              <a:sym typeface="Calibri"/>
            </a:endParaRPr>
          </a:p>
          <a:p>
            <a:pPr indent="-209550" lvl="0" marL="285750" marR="0" rtl="0" algn="l">
              <a:lnSpc>
                <a:spcPct val="150000"/>
              </a:lnSpc>
              <a:spcBef>
                <a:spcPts val="1000"/>
              </a:spcBef>
              <a:spcAft>
                <a:spcPts val="0"/>
              </a:spcAft>
              <a:buClr>
                <a:schemeClr val="dk1"/>
              </a:buClr>
              <a:buSzPts val="1600"/>
              <a:buFont typeface="Arial"/>
              <a:buChar char="•"/>
            </a:pPr>
            <a:r>
              <a:rPr b="0" i="0" lang="en-US" sz="1600" u="none" cap="none" strike="noStrike">
                <a:solidFill>
                  <a:schemeClr val="dk1"/>
                </a:solidFill>
                <a:latin typeface="Times New Roman"/>
                <a:ea typeface="Times New Roman"/>
                <a:cs typeface="Times New Roman"/>
                <a:sym typeface="Times New Roman"/>
              </a:rPr>
              <a:t>METHODOLOGY</a:t>
            </a:r>
            <a:endParaRPr b="0" i="0" sz="1600" u="none" cap="none" strike="noStrike">
              <a:solidFill>
                <a:schemeClr val="dk1"/>
              </a:solidFill>
              <a:latin typeface="Calibri"/>
              <a:ea typeface="Calibri"/>
              <a:cs typeface="Calibri"/>
              <a:sym typeface="Calibri"/>
            </a:endParaRPr>
          </a:p>
          <a:p>
            <a:pPr indent="-209550" lvl="0" marL="285750" marR="0" rtl="0" algn="l">
              <a:lnSpc>
                <a:spcPct val="150000"/>
              </a:lnSpc>
              <a:spcBef>
                <a:spcPts val="1000"/>
              </a:spcBef>
              <a:spcAft>
                <a:spcPts val="0"/>
              </a:spcAft>
              <a:buClr>
                <a:schemeClr val="dk1"/>
              </a:buClr>
              <a:buSzPts val="1600"/>
              <a:buFont typeface="Arial"/>
              <a:buChar char="•"/>
            </a:pPr>
            <a:r>
              <a:rPr b="0" i="0" lang="en-US" sz="1600" u="none" cap="none" strike="noStrike">
                <a:solidFill>
                  <a:schemeClr val="dk1"/>
                </a:solidFill>
                <a:latin typeface="Times New Roman"/>
                <a:ea typeface="Times New Roman"/>
                <a:cs typeface="Times New Roman"/>
                <a:sym typeface="Times New Roman"/>
              </a:rPr>
              <a:t>INNOVATIONS OF THE PROJECT </a:t>
            </a:r>
            <a:endParaRPr b="0" i="0" sz="1600" u="none" cap="none" strike="noStrike">
              <a:solidFill>
                <a:schemeClr val="dk1"/>
              </a:solidFill>
              <a:latin typeface="Times New Roman"/>
              <a:ea typeface="Times New Roman"/>
              <a:cs typeface="Times New Roman"/>
              <a:sym typeface="Times New Roman"/>
            </a:endParaRPr>
          </a:p>
          <a:p>
            <a:pPr indent="-209550" lvl="0" marL="285750" marR="0" rtl="0" algn="l">
              <a:lnSpc>
                <a:spcPct val="150000"/>
              </a:lnSpc>
              <a:spcBef>
                <a:spcPts val="1000"/>
              </a:spcBef>
              <a:spcAft>
                <a:spcPts val="0"/>
              </a:spcAft>
              <a:buClr>
                <a:schemeClr val="dk1"/>
              </a:buClr>
              <a:buSzPts val="1600"/>
              <a:buFont typeface="Times New Roman"/>
              <a:buChar char="•"/>
            </a:pPr>
            <a:r>
              <a:rPr b="0" i="0" lang="en-US" sz="1600" u="none" cap="none" strike="noStrike">
                <a:solidFill>
                  <a:schemeClr val="dk1"/>
                </a:solidFill>
                <a:latin typeface="Times New Roman"/>
                <a:ea typeface="Times New Roman"/>
                <a:cs typeface="Times New Roman"/>
                <a:sym typeface="Times New Roman"/>
              </a:rPr>
              <a:t>LITERATURE REVIEW</a:t>
            </a:r>
            <a:endParaRPr b="0" i="0" sz="1600" u="none" cap="none" strike="noStrike">
              <a:solidFill>
                <a:schemeClr val="dk1"/>
              </a:solidFill>
              <a:latin typeface="Times New Roman"/>
              <a:ea typeface="Times New Roman"/>
              <a:cs typeface="Times New Roman"/>
              <a:sym typeface="Times New Roman"/>
            </a:endParaRPr>
          </a:p>
          <a:p>
            <a:pPr indent="-209550" lvl="0" marL="285750" marR="0" rtl="0" algn="l">
              <a:lnSpc>
                <a:spcPct val="150000"/>
              </a:lnSpc>
              <a:spcBef>
                <a:spcPts val="1000"/>
              </a:spcBef>
              <a:spcAft>
                <a:spcPts val="0"/>
              </a:spcAft>
              <a:buClr>
                <a:schemeClr val="dk1"/>
              </a:buClr>
              <a:buSzPts val="1600"/>
              <a:buFont typeface="Arial"/>
              <a:buChar char="•"/>
            </a:pPr>
            <a:r>
              <a:rPr b="0" i="0" lang="en-US" sz="1600" u="none" cap="none" strike="noStrike">
                <a:solidFill>
                  <a:schemeClr val="dk1"/>
                </a:solidFill>
                <a:latin typeface="Times New Roman"/>
                <a:ea typeface="Times New Roman"/>
                <a:cs typeface="Times New Roman"/>
                <a:sym typeface="Times New Roman"/>
              </a:rPr>
              <a:t>SOFTWARE &amp; HARDWARE REQUIREMENTS </a:t>
            </a:r>
            <a:endParaRPr b="0" i="0" sz="1600" u="none" cap="none" strike="noStrike">
              <a:solidFill>
                <a:schemeClr val="dk1"/>
              </a:solidFill>
              <a:latin typeface="Calibri"/>
              <a:ea typeface="Calibri"/>
              <a:cs typeface="Calibri"/>
              <a:sym typeface="Calibri"/>
            </a:endParaRPr>
          </a:p>
          <a:p>
            <a:pPr indent="-209550" lvl="0" marL="285750" marR="0" rtl="0" algn="l">
              <a:lnSpc>
                <a:spcPct val="150000"/>
              </a:lnSpc>
              <a:spcBef>
                <a:spcPts val="1000"/>
              </a:spcBef>
              <a:spcAft>
                <a:spcPts val="0"/>
              </a:spcAft>
              <a:buClr>
                <a:schemeClr val="dk1"/>
              </a:buClr>
              <a:buSzPts val="1600"/>
              <a:buFont typeface="Arial"/>
              <a:buChar char="•"/>
            </a:pPr>
            <a:r>
              <a:rPr b="0" i="0" lang="en-US" sz="1600" u="none" cap="none" strike="noStrike">
                <a:solidFill>
                  <a:schemeClr val="dk1"/>
                </a:solidFill>
                <a:latin typeface="Times New Roman"/>
                <a:ea typeface="Times New Roman"/>
                <a:cs typeface="Times New Roman"/>
                <a:sym typeface="Times New Roman"/>
              </a:rPr>
              <a:t>CONCLUSION</a:t>
            </a:r>
            <a:endParaRPr b="0" i="0" sz="1600" u="none" cap="none" strike="noStrike">
              <a:solidFill>
                <a:schemeClr val="dk1"/>
              </a:solidFill>
              <a:latin typeface="Calibri"/>
              <a:ea typeface="Calibri"/>
              <a:cs typeface="Calibri"/>
              <a:sym typeface="Calibri"/>
            </a:endParaRPr>
          </a:p>
          <a:p>
            <a:pPr indent="-209550" lvl="0" marL="285750" marR="0" rtl="0" algn="l">
              <a:lnSpc>
                <a:spcPct val="150000"/>
              </a:lnSpc>
              <a:spcBef>
                <a:spcPts val="1000"/>
              </a:spcBef>
              <a:spcAft>
                <a:spcPts val="0"/>
              </a:spcAft>
              <a:buClr>
                <a:schemeClr val="dk1"/>
              </a:buClr>
              <a:buSzPts val="1600"/>
              <a:buFont typeface="Arial"/>
              <a:buChar char="•"/>
            </a:pPr>
            <a:r>
              <a:rPr b="0" i="0" lang="en-US" sz="1600" u="none" cap="none" strike="noStrike">
                <a:solidFill>
                  <a:schemeClr val="dk1"/>
                </a:solidFill>
                <a:latin typeface="Times New Roman"/>
                <a:ea typeface="Times New Roman"/>
                <a:cs typeface="Times New Roman"/>
                <a:sym typeface="Times New Roman"/>
              </a:rPr>
              <a:t>REFERENCES</a:t>
            </a:r>
            <a:endParaRPr b="0" i="0" sz="16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g3a02e1ac065_0_0"/>
          <p:cNvSpPr txBox="1"/>
          <p:nvPr>
            <p:ph idx="12" type="sldNum"/>
          </p:nvPr>
        </p:nvSpPr>
        <p:spPr>
          <a:xfrm>
            <a:off x="8610600" y="6356350"/>
            <a:ext cx="2743200" cy="3651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SzPts val="1800"/>
              <a:buFont typeface="Arial"/>
              <a:buNone/>
            </a:pPr>
            <a:fld id="{00000000-1234-1234-1234-123412341234}" type="slidenum">
              <a:rPr lang="en-US"/>
              <a:t>‹#›</a:t>
            </a:fld>
            <a:endParaRPr/>
          </a:p>
        </p:txBody>
      </p:sp>
      <p:sp>
        <p:nvSpPr>
          <p:cNvPr id="107" name="Google Shape;107;g3a02e1ac065_0_0"/>
          <p:cNvSpPr txBox="1"/>
          <p:nvPr>
            <p:ph idx="1" type="body"/>
          </p:nvPr>
        </p:nvSpPr>
        <p:spPr>
          <a:xfrm>
            <a:off x="189186" y="1825625"/>
            <a:ext cx="11887200" cy="4351200"/>
          </a:xfrm>
          <a:prstGeom prst="rect">
            <a:avLst/>
          </a:prstGeom>
        </p:spPr>
        <p:txBody>
          <a:bodyPr anchorCtr="0" anchor="t" bIns="45700" lIns="91425" spcFirstLastPara="1" rIns="91425" wrap="square" tIns="45700">
            <a:noAutofit/>
          </a:bodyPr>
          <a:lstStyle/>
          <a:p>
            <a:pPr indent="0" lvl="0" marL="0" rtl="0" algn="l">
              <a:spcBef>
                <a:spcPts val="1000"/>
              </a:spcBef>
              <a:spcAft>
                <a:spcPts val="0"/>
              </a:spcAft>
              <a:buNone/>
            </a:pPr>
            <a:r>
              <a:rPr lang="en-US"/>
              <a:t>This project presents an IoT-based Smart Waste Bin integrated with AI-powered waste classification to enhance waste segregation and management. The system uses an ESP32-S3 microcontroller connected with ultrasonic, gas, and moisture sensors to monitor bin fill level and detect wet waste. A machine-learning model running on the server classifies organic waste using real-time camera input. The data is displayed on a live dashboard, and alerts are triggered through LEDs and a buzzer when wet waste or a full bin is detected. This solution supports cleaner urban environments and smart-city automation.</a:t>
            </a:r>
            <a:endParaRPr/>
          </a:p>
        </p:txBody>
      </p:sp>
      <p:sp>
        <p:nvSpPr>
          <p:cNvPr id="108" name="Google Shape;108;g3a02e1ac065_0_0"/>
          <p:cNvSpPr txBox="1"/>
          <p:nvPr/>
        </p:nvSpPr>
        <p:spPr>
          <a:xfrm>
            <a:off x="3901148" y="656275"/>
            <a:ext cx="3712800" cy="523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800"/>
              <a:buFont typeface="Arial"/>
              <a:buNone/>
            </a:pPr>
            <a:r>
              <a:rPr b="1" lang="en-US" sz="2800">
                <a:latin typeface="Times New Roman"/>
                <a:ea typeface="Times New Roman"/>
                <a:cs typeface="Times New Roman"/>
                <a:sym typeface="Times New Roman"/>
              </a:rPr>
              <a:t>INTRODUCTION</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g3a02e1ac065_0_12"/>
          <p:cNvSpPr txBox="1"/>
          <p:nvPr>
            <p:ph idx="12" type="sldNum"/>
          </p:nvPr>
        </p:nvSpPr>
        <p:spPr>
          <a:xfrm>
            <a:off x="8610600" y="6356350"/>
            <a:ext cx="2743200" cy="3651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15" name="Google Shape;115;g3a02e1ac065_0_12"/>
          <p:cNvSpPr txBox="1"/>
          <p:nvPr>
            <p:ph idx="1" type="body"/>
          </p:nvPr>
        </p:nvSpPr>
        <p:spPr>
          <a:xfrm>
            <a:off x="189186" y="1825625"/>
            <a:ext cx="11887200" cy="4351200"/>
          </a:xfrm>
          <a:prstGeom prst="rect">
            <a:avLst/>
          </a:prstGeom>
        </p:spPr>
        <p:txBody>
          <a:bodyPr anchorCtr="0" anchor="t" bIns="45700" lIns="91425" spcFirstLastPara="1" rIns="91425" wrap="square" tIns="45700">
            <a:noAutofit/>
          </a:bodyPr>
          <a:lstStyle/>
          <a:p>
            <a:pPr indent="0" lvl="0" marL="0" rtl="0" algn="l">
              <a:spcBef>
                <a:spcPts val="1000"/>
              </a:spcBef>
              <a:spcAft>
                <a:spcPts val="0"/>
              </a:spcAft>
              <a:buNone/>
            </a:pPr>
            <a:r>
              <a:rPr lang="en-US"/>
              <a:t>Traditional waste management systems lack automation, resulting in overflowing bins, delayed collection, and improper waste segregation. Manual monitoring increases labour, time, and health risks, especially when handling wet and decomposing waste. Most existing bins only collect trash but do not classify or report bin status. This leads to environmental pollution, odour, unhygienic surroundings, and inefficient resource usage. The problem is to design an intelligent, automated system that detects bin fullness, identifies wet waste accurately, provides live monitoring, and alerts authorities efficiently, ensuring cleaner and smarter waste handling.</a:t>
            </a:r>
            <a:endParaRPr/>
          </a:p>
        </p:txBody>
      </p:sp>
      <p:sp>
        <p:nvSpPr>
          <p:cNvPr id="116" name="Google Shape;116;g3a02e1ac065_0_12"/>
          <p:cNvSpPr txBox="1"/>
          <p:nvPr/>
        </p:nvSpPr>
        <p:spPr>
          <a:xfrm>
            <a:off x="3901148" y="656275"/>
            <a:ext cx="3712800" cy="954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800"/>
              <a:buFont typeface="Arial"/>
              <a:buNone/>
            </a:pPr>
            <a:r>
              <a:rPr b="1" lang="en-US" sz="2800">
                <a:latin typeface="Times New Roman"/>
                <a:ea typeface="Times New Roman"/>
                <a:cs typeface="Times New Roman"/>
                <a:sym typeface="Times New Roman"/>
              </a:rPr>
              <a:t>PROBLEM DEFINITION</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g3a02e1ac065_0_21"/>
          <p:cNvSpPr txBox="1"/>
          <p:nvPr>
            <p:ph idx="12" type="sldNum"/>
          </p:nvPr>
        </p:nvSpPr>
        <p:spPr>
          <a:xfrm>
            <a:off x="8610600" y="6356350"/>
            <a:ext cx="2743200" cy="3651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23" name="Google Shape;123;g3a02e1ac065_0_21"/>
          <p:cNvSpPr txBox="1"/>
          <p:nvPr>
            <p:ph idx="1" type="body"/>
          </p:nvPr>
        </p:nvSpPr>
        <p:spPr>
          <a:xfrm>
            <a:off x="189186" y="1825625"/>
            <a:ext cx="11887200" cy="4351200"/>
          </a:xfrm>
          <a:prstGeom prst="rect">
            <a:avLst/>
          </a:prstGeom>
        </p:spPr>
        <p:txBody>
          <a:bodyPr anchorCtr="0" anchor="t" bIns="45700" lIns="91425" spcFirstLastPara="1" rIns="91425" wrap="square" tIns="45700">
            <a:noAutofit/>
          </a:bodyPr>
          <a:lstStyle/>
          <a:p>
            <a:pPr indent="0" lvl="0" marL="0" rtl="0" algn="l">
              <a:spcBef>
                <a:spcPts val="1000"/>
              </a:spcBef>
              <a:spcAft>
                <a:spcPts val="0"/>
              </a:spcAft>
              <a:buNone/>
            </a:pPr>
            <a:r>
              <a:rPr lang="en-US"/>
              <a:t>This project aims to build an intelligent waste bin that automatically detects wet or organic waste, monitors bin fill levels in real time, and alerts users when the bin is full. The system integrates IoT sensors with machine learning to classify waste through a camera and ensure smart waste handling. It provides live data to a dashboard, supports buzzer alerts, and improves hygiene by reducing manual monitoring. Overall, the objective is to create an efficient, automated, and tech-driven waste management solution.</a:t>
            </a:r>
            <a:endParaRPr/>
          </a:p>
        </p:txBody>
      </p:sp>
      <p:sp>
        <p:nvSpPr>
          <p:cNvPr id="124" name="Google Shape;124;g3a02e1ac065_0_21"/>
          <p:cNvSpPr txBox="1"/>
          <p:nvPr/>
        </p:nvSpPr>
        <p:spPr>
          <a:xfrm>
            <a:off x="3901148" y="656275"/>
            <a:ext cx="3712800" cy="954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800"/>
              <a:buFont typeface="Arial"/>
              <a:buNone/>
            </a:pPr>
            <a:r>
              <a:rPr b="1" lang="en-US" sz="2800">
                <a:latin typeface="Times New Roman"/>
                <a:ea typeface="Times New Roman"/>
                <a:cs typeface="Times New Roman"/>
                <a:sym typeface="Times New Roman"/>
              </a:rPr>
              <a:t>OBJECTIVES OF THE PROJECT</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g3a02e1ac065_0_30"/>
          <p:cNvSpPr txBox="1"/>
          <p:nvPr>
            <p:ph idx="12" type="sldNum"/>
          </p:nvPr>
        </p:nvSpPr>
        <p:spPr>
          <a:xfrm>
            <a:off x="8610600" y="6356350"/>
            <a:ext cx="2743200" cy="365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rgbClr val="000000"/>
              </a:buClr>
              <a:buSzPts val="1800"/>
              <a:buFont typeface="Arial"/>
              <a:buNone/>
            </a:pPr>
            <a:fld id="{00000000-1234-1234-1234-123412341234}" type="slidenum">
              <a:rPr lang="en-US">
                <a:solidFill>
                  <a:schemeClr val="dk1"/>
                </a:solidFill>
              </a:rPr>
              <a:t>‹#›</a:t>
            </a:fld>
            <a:endParaRPr>
              <a:solidFill>
                <a:schemeClr val="dk1"/>
              </a:solidFill>
            </a:endParaRPr>
          </a:p>
        </p:txBody>
      </p:sp>
      <p:sp>
        <p:nvSpPr>
          <p:cNvPr id="131" name="Google Shape;131;g3a02e1ac065_0_30"/>
          <p:cNvSpPr txBox="1"/>
          <p:nvPr>
            <p:ph idx="1" type="body"/>
          </p:nvPr>
        </p:nvSpPr>
        <p:spPr>
          <a:xfrm>
            <a:off x="839788" y="2057400"/>
            <a:ext cx="3932100" cy="3811500"/>
          </a:xfrm>
          <a:prstGeom prst="rect">
            <a:avLst/>
          </a:prstGeom>
        </p:spPr>
        <p:txBody>
          <a:bodyPr anchorCtr="0" anchor="t" bIns="45700" lIns="91425" spcFirstLastPara="1" rIns="91425" wrap="square" tIns="45700">
            <a:noAutofit/>
          </a:bodyPr>
          <a:lstStyle/>
          <a:p>
            <a:pPr indent="0" lvl="0" marL="0" rtl="0" algn="l">
              <a:spcBef>
                <a:spcPts val="1000"/>
              </a:spcBef>
              <a:spcAft>
                <a:spcPts val="0"/>
              </a:spcAft>
              <a:buNone/>
            </a:pPr>
            <a:r>
              <a:rPr lang="en-US"/>
              <a:t>The proposed system follows a layered methodology combining hardware sensing, machine learning inference, and IoT communication. Sensors first collect environmental and waste-related data, including gas levels, moisture, and distance. Simultaneously, a webcam captures waste images and a deep learning model classifies waste as organic or recyclable. The ESP32-S3 processes sensor readings, triggers alerts, and pushes data to a Flask-based web dashboard via Wi-Fi. The dashboard displays real-time waste status and allows user control of the buzzer. Continuous sensor feedback ensures accurate monitoring and intelligent alerts.</a:t>
            </a:r>
            <a:endParaRPr/>
          </a:p>
        </p:txBody>
      </p:sp>
      <p:sp>
        <p:nvSpPr>
          <p:cNvPr id="132" name="Google Shape;132;g3a02e1ac065_0_30"/>
          <p:cNvSpPr txBox="1"/>
          <p:nvPr/>
        </p:nvSpPr>
        <p:spPr>
          <a:xfrm>
            <a:off x="3901148" y="656275"/>
            <a:ext cx="3712800" cy="307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800"/>
              <a:buFont typeface="Arial"/>
              <a:buNone/>
            </a:pPr>
            <a:r>
              <a:t/>
            </a:r>
            <a:endParaRPr b="0" i="0" sz="1400" u="none" cap="none" strike="noStrike">
              <a:solidFill>
                <a:srgbClr val="000000"/>
              </a:solidFill>
              <a:latin typeface="Arial"/>
              <a:ea typeface="Arial"/>
              <a:cs typeface="Arial"/>
              <a:sym typeface="Arial"/>
            </a:endParaRPr>
          </a:p>
        </p:txBody>
      </p:sp>
      <p:sp>
        <p:nvSpPr>
          <p:cNvPr id="133" name="Google Shape;133;g3a02e1ac065_0_30"/>
          <p:cNvSpPr txBox="1"/>
          <p:nvPr>
            <p:ph type="title"/>
          </p:nvPr>
        </p:nvSpPr>
        <p:spPr>
          <a:xfrm>
            <a:off x="839788" y="457200"/>
            <a:ext cx="3932100" cy="1600200"/>
          </a:xfrm>
          <a:prstGeom prst="rect">
            <a:avLst/>
          </a:prstGeom>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1"/>
              </a:buClr>
              <a:buSzPts val="2800"/>
              <a:buFont typeface="Arial"/>
              <a:buNone/>
            </a:pPr>
            <a:r>
              <a:rPr b="1" lang="en-US" sz="2800">
                <a:latin typeface="Times New Roman"/>
                <a:ea typeface="Times New Roman"/>
                <a:cs typeface="Times New Roman"/>
                <a:sym typeface="Times New Roman"/>
              </a:rPr>
              <a:t>METHODOLOGY</a:t>
            </a:r>
            <a:endParaRPr sz="1400">
              <a:latin typeface="Arial"/>
              <a:ea typeface="Arial"/>
              <a:cs typeface="Arial"/>
              <a:sym typeface="Arial"/>
            </a:endParaRPr>
          </a:p>
          <a:p>
            <a:pPr indent="0" lvl="0" marL="0" rtl="0" algn="l">
              <a:spcBef>
                <a:spcPts val="0"/>
              </a:spcBef>
              <a:spcAft>
                <a:spcPts val="0"/>
              </a:spcAft>
              <a:buNone/>
            </a:pPr>
            <a:r>
              <a:t/>
            </a:r>
            <a:endParaRPr b="1" sz="2800">
              <a:solidFill>
                <a:srgbClr val="000000"/>
              </a:solidFill>
              <a:latin typeface="Times New Roman"/>
              <a:ea typeface="Times New Roman"/>
              <a:cs typeface="Times New Roman"/>
              <a:sym typeface="Times New Roman"/>
            </a:endParaRPr>
          </a:p>
        </p:txBody>
      </p:sp>
      <p:pic>
        <p:nvPicPr>
          <p:cNvPr id="134" name="Google Shape;134;g3a02e1ac065_0_30" title="1.png"/>
          <p:cNvPicPr preferRelativeResize="0"/>
          <p:nvPr>
            <p:ph idx="2" type="pic"/>
          </p:nvPr>
        </p:nvPicPr>
        <p:blipFill rotWithShape="1">
          <a:blip r:embed="rId3">
            <a:alphaModFix/>
          </a:blip>
          <a:srcRect b="0" l="-1327" r="-30" t="0"/>
          <a:stretch/>
        </p:blipFill>
        <p:spPr>
          <a:xfrm>
            <a:off x="5183200" y="61300"/>
            <a:ext cx="6900676" cy="6858002"/>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g3a02e1ac065_0_41"/>
          <p:cNvSpPr txBox="1"/>
          <p:nvPr>
            <p:ph idx="12" type="sldNum"/>
          </p:nvPr>
        </p:nvSpPr>
        <p:spPr>
          <a:xfrm>
            <a:off x="8610600" y="6356350"/>
            <a:ext cx="2743200" cy="3651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41" name="Google Shape;141;g3a02e1ac065_0_41"/>
          <p:cNvSpPr txBox="1"/>
          <p:nvPr>
            <p:ph idx="1" type="body"/>
          </p:nvPr>
        </p:nvSpPr>
        <p:spPr>
          <a:xfrm>
            <a:off x="189186" y="1825625"/>
            <a:ext cx="11887200" cy="4351200"/>
          </a:xfrm>
          <a:prstGeom prst="rect">
            <a:avLst/>
          </a:prstGeom>
        </p:spPr>
        <p:txBody>
          <a:bodyPr anchorCtr="0" anchor="t" bIns="45700" lIns="91425" spcFirstLastPara="1" rIns="91425" wrap="square" tIns="45700">
            <a:noAutofit/>
          </a:bodyPr>
          <a:lstStyle/>
          <a:p>
            <a:pPr indent="0" lvl="0" marL="0" rtl="0" algn="l">
              <a:spcBef>
                <a:spcPts val="1000"/>
              </a:spcBef>
              <a:spcAft>
                <a:spcPts val="0"/>
              </a:spcAft>
              <a:buNone/>
            </a:pPr>
            <a:r>
              <a:rPr lang="en-US"/>
              <a:t>This project introduces a hybrid waste-classification system combining IoT sensors and machine learning for increased accuracy and automation. Unlike traditional smart bins that rely only on single sensors, this system fuses ultrasonic, gas, and moisture readings with real-time webcam-based classification. Intelligent calibration ensures adaptability to different environments, while an interactive web dashboard provides live monitoring and buzzer control. The design enables automated wet waste detection, real-time bin-fill alerts, and cloud-based reporting. This integrated multi-sensor + AI approach enhances smart-city waste management efficiency and environmental hygiene.</a:t>
            </a:r>
            <a:endParaRPr/>
          </a:p>
        </p:txBody>
      </p:sp>
      <p:sp>
        <p:nvSpPr>
          <p:cNvPr id="142" name="Google Shape;142;g3a02e1ac065_0_41"/>
          <p:cNvSpPr txBox="1"/>
          <p:nvPr/>
        </p:nvSpPr>
        <p:spPr>
          <a:xfrm>
            <a:off x="3901148" y="656275"/>
            <a:ext cx="3712800" cy="954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800"/>
              <a:buFont typeface="Arial"/>
              <a:buNone/>
            </a:pPr>
            <a:r>
              <a:rPr b="1" lang="en-US" sz="2800">
                <a:latin typeface="Times New Roman"/>
                <a:ea typeface="Times New Roman"/>
                <a:cs typeface="Times New Roman"/>
                <a:sym typeface="Times New Roman"/>
              </a:rPr>
              <a:t>INNOVATIONS OF THE PROJECT</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g3a02e1ac065_0_49"/>
          <p:cNvSpPr txBox="1"/>
          <p:nvPr>
            <p:ph idx="12" type="sldNum"/>
          </p:nvPr>
        </p:nvSpPr>
        <p:spPr>
          <a:xfrm>
            <a:off x="8610600" y="6356350"/>
            <a:ext cx="2743200" cy="3651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49" name="Google Shape;149;g3a02e1ac065_0_49"/>
          <p:cNvSpPr txBox="1"/>
          <p:nvPr/>
        </p:nvSpPr>
        <p:spPr>
          <a:xfrm>
            <a:off x="3964998" y="0"/>
            <a:ext cx="3712800" cy="954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800"/>
              <a:buFont typeface="Arial"/>
              <a:buNone/>
            </a:pPr>
            <a:r>
              <a:rPr b="1" lang="en-US" sz="2800">
                <a:latin typeface="Times New Roman"/>
                <a:ea typeface="Times New Roman"/>
                <a:cs typeface="Times New Roman"/>
                <a:sym typeface="Times New Roman"/>
              </a:rPr>
              <a:t>LITERATURE REVIEW</a:t>
            </a:r>
            <a:endParaRPr b="0" i="0" sz="1400" u="none" cap="none" strike="noStrike">
              <a:solidFill>
                <a:srgbClr val="000000"/>
              </a:solidFill>
              <a:latin typeface="Arial"/>
              <a:ea typeface="Arial"/>
              <a:cs typeface="Arial"/>
              <a:sym typeface="Arial"/>
            </a:endParaRPr>
          </a:p>
        </p:txBody>
      </p:sp>
      <p:graphicFrame>
        <p:nvGraphicFramePr>
          <p:cNvPr id="150" name="Google Shape;150;g3a02e1ac065_0_49"/>
          <p:cNvGraphicFramePr/>
          <p:nvPr/>
        </p:nvGraphicFramePr>
        <p:xfrm>
          <a:off x="141513" y="1042125"/>
          <a:ext cx="3000000" cy="3000000"/>
        </p:xfrm>
        <a:graphic>
          <a:graphicData uri="http://schemas.openxmlformats.org/drawingml/2006/table">
            <a:tbl>
              <a:tblPr>
                <a:noFill/>
                <a:tableStyleId>{E21E2DA5-FD08-45D3-B0BC-DFD3291398F7}</a:tableStyleId>
              </a:tblPr>
              <a:tblGrid>
                <a:gridCol w="1340050"/>
                <a:gridCol w="1340050"/>
                <a:gridCol w="1340050"/>
                <a:gridCol w="1340050"/>
                <a:gridCol w="1340050"/>
                <a:gridCol w="1340050"/>
                <a:gridCol w="1340050"/>
              </a:tblGrid>
              <a:tr h="323450">
                <a:tc>
                  <a:txBody>
                    <a:bodyPr/>
                    <a:lstStyle/>
                    <a:p>
                      <a:pPr indent="0" lvl="0" marL="0" rtl="0" algn="ctr">
                        <a:lnSpc>
                          <a:spcPct val="115000"/>
                        </a:lnSpc>
                        <a:spcBef>
                          <a:spcPts val="0"/>
                        </a:spcBef>
                        <a:spcAft>
                          <a:spcPts val="0"/>
                        </a:spcAft>
                        <a:buNone/>
                      </a:pPr>
                      <a:r>
                        <a:rPr b="1" lang="en-US" sz="1000"/>
                        <a:t>#</a:t>
                      </a:r>
                      <a:endParaRPr b="1" sz="1000"/>
                    </a:p>
                  </a:txBody>
                  <a:tcPr marT="91425" marB="91425" marR="91425" marL="91425"/>
                </a:tc>
                <a:tc>
                  <a:txBody>
                    <a:bodyPr/>
                    <a:lstStyle/>
                    <a:p>
                      <a:pPr indent="0" lvl="0" marL="0" rtl="0" algn="ctr">
                        <a:lnSpc>
                          <a:spcPct val="115000"/>
                        </a:lnSpc>
                        <a:spcBef>
                          <a:spcPts val="0"/>
                        </a:spcBef>
                        <a:spcAft>
                          <a:spcPts val="0"/>
                        </a:spcAft>
                        <a:buNone/>
                      </a:pPr>
                      <a:r>
                        <a:rPr b="1" lang="en-US" sz="1000"/>
                        <a:t>Source / Year</a:t>
                      </a:r>
                      <a:endParaRPr b="1" sz="1000"/>
                    </a:p>
                  </a:txBody>
                  <a:tcPr marT="91425" marB="91425" marR="91425" marL="91425"/>
                </a:tc>
                <a:tc>
                  <a:txBody>
                    <a:bodyPr/>
                    <a:lstStyle/>
                    <a:p>
                      <a:pPr indent="0" lvl="0" marL="0" rtl="0" algn="ctr">
                        <a:lnSpc>
                          <a:spcPct val="115000"/>
                        </a:lnSpc>
                        <a:spcBef>
                          <a:spcPts val="0"/>
                        </a:spcBef>
                        <a:spcAft>
                          <a:spcPts val="0"/>
                        </a:spcAft>
                        <a:buNone/>
                      </a:pPr>
                      <a:r>
                        <a:rPr b="1" lang="en-US" sz="1000"/>
                        <a:t>Focus</a:t>
                      </a:r>
                      <a:endParaRPr b="1" sz="1000"/>
                    </a:p>
                  </a:txBody>
                  <a:tcPr marT="91425" marB="91425" marR="91425" marL="91425"/>
                </a:tc>
                <a:tc>
                  <a:txBody>
                    <a:bodyPr/>
                    <a:lstStyle/>
                    <a:p>
                      <a:pPr indent="0" lvl="0" marL="0" rtl="0" algn="ctr">
                        <a:lnSpc>
                          <a:spcPct val="115000"/>
                        </a:lnSpc>
                        <a:spcBef>
                          <a:spcPts val="0"/>
                        </a:spcBef>
                        <a:spcAft>
                          <a:spcPts val="0"/>
                        </a:spcAft>
                        <a:buNone/>
                      </a:pPr>
                      <a:r>
                        <a:rPr b="1" lang="en-US" sz="1000"/>
                        <a:t>Method / Hardware</a:t>
                      </a:r>
                      <a:endParaRPr b="1" sz="1000"/>
                    </a:p>
                  </a:txBody>
                  <a:tcPr marT="91425" marB="91425" marR="91425" marL="91425"/>
                </a:tc>
                <a:tc>
                  <a:txBody>
                    <a:bodyPr/>
                    <a:lstStyle/>
                    <a:p>
                      <a:pPr indent="0" lvl="0" marL="0" rtl="0" algn="ctr">
                        <a:lnSpc>
                          <a:spcPct val="115000"/>
                        </a:lnSpc>
                        <a:spcBef>
                          <a:spcPts val="0"/>
                        </a:spcBef>
                        <a:spcAft>
                          <a:spcPts val="0"/>
                        </a:spcAft>
                        <a:buNone/>
                      </a:pPr>
                      <a:r>
                        <a:rPr b="1" lang="en-US" sz="1000"/>
                        <a:t>Findings</a:t>
                      </a:r>
                      <a:endParaRPr b="1" sz="1000"/>
                    </a:p>
                  </a:txBody>
                  <a:tcPr marT="91425" marB="91425" marR="91425" marL="91425"/>
                </a:tc>
                <a:tc>
                  <a:txBody>
                    <a:bodyPr/>
                    <a:lstStyle/>
                    <a:p>
                      <a:pPr indent="0" lvl="0" marL="0" rtl="0" algn="ctr">
                        <a:lnSpc>
                          <a:spcPct val="115000"/>
                        </a:lnSpc>
                        <a:spcBef>
                          <a:spcPts val="0"/>
                        </a:spcBef>
                        <a:spcAft>
                          <a:spcPts val="0"/>
                        </a:spcAft>
                        <a:buNone/>
                      </a:pPr>
                      <a:r>
                        <a:rPr b="1" lang="en-US" sz="1000"/>
                        <a:t>Limitation</a:t>
                      </a:r>
                      <a:endParaRPr b="1" sz="1000"/>
                    </a:p>
                  </a:txBody>
                  <a:tcPr marT="91425" marB="91425" marR="91425" marL="91425"/>
                </a:tc>
                <a:tc>
                  <a:txBody>
                    <a:bodyPr/>
                    <a:lstStyle/>
                    <a:p>
                      <a:pPr indent="0" lvl="0" marL="0" rtl="0" algn="ctr">
                        <a:lnSpc>
                          <a:spcPct val="115000"/>
                        </a:lnSpc>
                        <a:spcBef>
                          <a:spcPts val="0"/>
                        </a:spcBef>
                        <a:spcAft>
                          <a:spcPts val="0"/>
                        </a:spcAft>
                        <a:buNone/>
                      </a:pPr>
                      <a:r>
                        <a:rPr b="1" lang="en-US" sz="1000"/>
                        <a:t>How We Used It</a:t>
                      </a:r>
                      <a:endParaRPr b="1" sz="1000"/>
                    </a:p>
                  </a:txBody>
                  <a:tcPr marT="91425" marB="91425" marR="91425" marL="91425"/>
                </a:tc>
              </a:tr>
              <a:tr h="1374425">
                <a:tc>
                  <a:txBody>
                    <a:bodyPr/>
                    <a:lstStyle/>
                    <a:p>
                      <a:pPr indent="0" lvl="0" marL="0" rtl="0" algn="l">
                        <a:spcBef>
                          <a:spcPts val="0"/>
                        </a:spcBef>
                        <a:spcAft>
                          <a:spcPts val="0"/>
                        </a:spcAft>
                        <a:buNone/>
                      </a:pPr>
                      <a:r>
                        <a:rPr lang="en-US" sz="1000"/>
                        <a:t>1</a:t>
                      </a:r>
                      <a:endParaRPr sz="1000"/>
                    </a:p>
                  </a:txBody>
                  <a:tcPr marT="91425" marB="91425" marR="91425" marL="91425"/>
                </a:tc>
                <a:tc>
                  <a:txBody>
                    <a:bodyPr/>
                    <a:lstStyle/>
                    <a:p>
                      <a:pPr indent="0" lvl="0" marL="0" rtl="0" algn="l">
                        <a:spcBef>
                          <a:spcPts val="0"/>
                        </a:spcBef>
                        <a:spcAft>
                          <a:spcPts val="0"/>
                        </a:spcAft>
                        <a:buNone/>
                      </a:pPr>
                      <a:r>
                        <a:rPr b="1" lang="en-US" sz="1000"/>
                        <a:t>Trident3, Kaggle Waste Classification Notebook (2023)</a:t>
                      </a:r>
                      <a:endParaRPr b="1" sz="1000"/>
                    </a:p>
                  </a:txBody>
                  <a:tcPr marT="91425" marB="91425" marR="91425" marL="91425"/>
                </a:tc>
                <a:tc>
                  <a:txBody>
                    <a:bodyPr/>
                    <a:lstStyle/>
                    <a:p>
                      <a:pPr indent="0" lvl="0" marL="0" rtl="0" algn="l">
                        <a:spcBef>
                          <a:spcPts val="0"/>
                        </a:spcBef>
                        <a:spcAft>
                          <a:spcPts val="0"/>
                        </a:spcAft>
                        <a:buNone/>
                      </a:pPr>
                      <a:r>
                        <a:rPr lang="en-US" sz="1000"/>
                        <a:t>Image-based classification of organic vs recyclable waste</a:t>
                      </a:r>
                      <a:endParaRPr sz="1000"/>
                    </a:p>
                  </a:txBody>
                  <a:tcPr marT="91425" marB="91425" marR="91425" marL="91425"/>
                </a:tc>
                <a:tc>
                  <a:txBody>
                    <a:bodyPr/>
                    <a:lstStyle/>
                    <a:p>
                      <a:pPr indent="0" lvl="0" marL="0" rtl="0" algn="l">
                        <a:spcBef>
                          <a:spcPts val="0"/>
                        </a:spcBef>
                        <a:spcAft>
                          <a:spcPts val="0"/>
                        </a:spcAft>
                        <a:buNone/>
                      </a:pPr>
                      <a:r>
                        <a:rPr lang="en-US" sz="1000"/>
                        <a:t>CNN model (Transfer Learning), image preprocessing, H5 model export</a:t>
                      </a:r>
                      <a:endParaRPr sz="1000"/>
                    </a:p>
                  </a:txBody>
                  <a:tcPr marT="91425" marB="91425" marR="91425" marL="91425"/>
                </a:tc>
                <a:tc>
                  <a:txBody>
                    <a:bodyPr/>
                    <a:lstStyle/>
                    <a:p>
                      <a:pPr indent="0" lvl="0" marL="0" rtl="0" algn="l">
                        <a:spcBef>
                          <a:spcPts val="0"/>
                        </a:spcBef>
                        <a:spcAft>
                          <a:spcPts val="0"/>
                        </a:spcAft>
                        <a:buNone/>
                      </a:pPr>
                      <a:r>
                        <a:rPr lang="en-US" sz="1000"/>
                        <a:t>Achieved high accuracy classifying waste images using deep learning</a:t>
                      </a:r>
                      <a:endParaRPr sz="1000"/>
                    </a:p>
                  </a:txBody>
                  <a:tcPr marT="91425" marB="91425" marR="91425" marL="91425"/>
                </a:tc>
                <a:tc>
                  <a:txBody>
                    <a:bodyPr/>
                    <a:lstStyle/>
                    <a:p>
                      <a:pPr indent="0" lvl="0" marL="0" rtl="0" algn="l">
                        <a:spcBef>
                          <a:spcPts val="0"/>
                        </a:spcBef>
                        <a:spcAft>
                          <a:spcPts val="0"/>
                        </a:spcAft>
                        <a:buNone/>
                      </a:pPr>
                      <a:r>
                        <a:rPr lang="en-US" sz="1000"/>
                        <a:t>Works best with clean dataset images; real-world lighting/noise can affect prediction</a:t>
                      </a:r>
                      <a:endParaRPr sz="1000"/>
                    </a:p>
                  </a:txBody>
                  <a:tcPr marT="91425" marB="91425" marR="91425" marL="91425"/>
                </a:tc>
                <a:tc>
                  <a:txBody>
                    <a:bodyPr/>
                    <a:lstStyle/>
                    <a:p>
                      <a:pPr indent="0" lvl="0" marL="0" rtl="0" algn="l">
                        <a:spcBef>
                          <a:spcPts val="0"/>
                        </a:spcBef>
                        <a:spcAft>
                          <a:spcPts val="0"/>
                        </a:spcAft>
                        <a:buNone/>
                      </a:pPr>
                      <a:r>
                        <a:rPr lang="en-US" sz="1000"/>
                        <a:t>We adopted model architecture &amp; integrated webcam inference into smart bin system</a:t>
                      </a:r>
                      <a:endParaRPr sz="1000"/>
                    </a:p>
                  </a:txBody>
                  <a:tcPr marT="91425" marB="91425" marR="91425" marL="91425"/>
                </a:tc>
              </a:tr>
              <a:tr h="1064025">
                <a:tc>
                  <a:txBody>
                    <a:bodyPr/>
                    <a:lstStyle/>
                    <a:p>
                      <a:pPr indent="0" lvl="0" marL="0" rtl="0" algn="l">
                        <a:spcBef>
                          <a:spcPts val="0"/>
                        </a:spcBef>
                        <a:spcAft>
                          <a:spcPts val="0"/>
                        </a:spcAft>
                        <a:buNone/>
                      </a:pPr>
                      <a:r>
                        <a:rPr lang="en-US" sz="1000"/>
                        <a:t>2</a:t>
                      </a:r>
                      <a:endParaRPr sz="1000"/>
                    </a:p>
                  </a:txBody>
                  <a:tcPr marT="91425" marB="91425" marR="91425" marL="91425"/>
                </a:tc>
                <a:tc>
                  <a:txBody>
                    <a:bodyPr/>
                    <a:lstStyle/>
                    <a:p>
                      <a:pPr indent="0" lvl="0" marL="0" rtl="0" algn="l">
                        <a:spcBef>
                          <a:spcPts val="0"/>
                        </a:spcBef>
                        <a:spcAft>
                          <a:spcPts val="0"/>
                        </a:spcAft>
                        <a:buNone/>
                      </a:pPr>
                      <a:r>
                        <a:rPr b="1" lang="en-US" sz="1000"/>
                        <a:t>Capacitive Soil Moisture Sensor Instruction Manual</a:t>
                      </a:r>
                      <a:endParaRPr b="1" sz="1000"/>
                    </a:p>
                  </a:txBody>
                  <a:tcPr marT="91425" marB="91425" marR="91425" marL="91425"/>
                </a:tc>
                <a:tc>
                  <a:txBody>
                    <a:bodyPr/>
                    <a:lstStyle/>
                    <a:p>
                      <a:pPr indent="0" lvl="0" marL="0" rtl="0" algn="l">
                        <a:spcBef>
                          <a:spcPts val="0"/>
                        </a:spcBef>
                        <a:spcAft>
                          <a:spcPts val="0"/>
                        </a:spcAft>
                        <a:buNone/>
                      </a:pPr>
                      <a:r>
                        <a:rPr lang="en-US" sz="1000"/>
                        <a:t>Moisture-based detection of organic/ wet material</a:t>
                      </a:r>
                      <a:endParaRPr sz="1000"/>
                    </a:p>
                  </a:txBody>
                  <a:tcPr marT="91425" marB="91425" marR="91425" marL="91425"/>
                </a:tc>
                <a:tc>
                  <a:txBody>
                    <a:bodyPr/>
                    <a:lstStyle/>
                    <a:p>
                      <a:pPr indent="0" lvl="0" marL="0" rtl="0" algn="l">
                        <a:spcBef>
                          <a:spcPts val="0"/>
                        </a:spcBef>
                        <a:spcAft>
                          <a:spcPts val="0"/>
                        </a:spcAft>
                        <a:buNone/>
                      </a:pPr>
                      <a:r>
                        <a:rPr lang="en-US" sz="1000"/>
                        <a:t>Capacitive moisture sensor (analog output)</a:t>
                      </a:r>
                      <a:endParaRPr sz="1000"/>
                    </a:p>
                  </a:txBody>
                  <a:tcPr marT="91425" marB="91425" marR="91425" marL="91425"/>
                </a:tc>
                <a:tc>
                  <a:txBody>
                    <a:bodyPr/>
                    <a:lstStyle/>
                    <a:p>
                      <a:pPr indent="0" lvl="0" marL="0" rtl="0" algn="l">
                        <a:spcBef>
                          <a:spcPts val="0"/>
                        </a:spcBef>
                        <a:spcAft>
                          <a:spcPts val="0"/>
                        </a:spcAft>
                        <a:buNone/>
                      </a:pPr>
                      <a:r>
                        <a:rPr lang="en-US" sz="1000"/>
                        <a:t>Detects moisture content reliably, corrosion-free design vs resistive sensors</a:t>
                      </a:r>
                      <a:endParaRPr sz="1000"/>
                    </a:p>
                  </a:txBody>
                  <a:tcPr marT="91425" marB="91425" marR="91425" marL="91425"/>
                </a:tc>
                <a:tc>
                  <a:txBody>
                    <a:bodyPr/>
                    <a:lstStyle/>
                    <a:p>
                      <a:pPr indent="0" lvl="0" marL="0" rtl="0" algn="l">
                        <a:spcBef>
                          <a:spcPts val="0"/>
                        </a:spcBef>
                        <a:spcAft>
                          <a:spcPts val="0"/>
                        </a:spcAft>
                        <a:buNone/>
                      </a:pPr>
                      <a:r>
                        <a:rPr lang="en-US" sz="1000"/>
                        <a:t>Needs calibration &amp; values vary with environment</a:t>
                      </a:r>
                      <a:endParaRPr sz="1000"/>
                    </a:p>
                  </a:txBody>
                  <a:tcPr marT="91425" marB="91425" marR="91425" marL="91425"/>
                </a:tc>
                <a:tc>
                  <a:txBody>
                    <a:bodyPr/>
                    <a:lstStyle/>
                    <a:p>
                      <a:pPr indent="0" lvl="0" marL="0" rtl="0" algn="l">
                        <a:spcBef>
                          <a:spcPts val="0"/>
                        </a:spcBef>
                        <a:spcAft>
                          <a:spcPts val="0"/>
                        </a:spcAft>
                        <a:buNone/>
                      </a:pPr>
                      <a:r>
                        <a:rPr lang="en-US" sz="1000"/>
                        <a:t>Used to detect moisture in waste to identify wet/organic waste</a:t>
                      </a:r>
                      <a:endParaRPr sz="1000"/>
                    </a:p>
                  </a:txBody>
                  <a:tcPr marT="91425" marB="91425" marR="91425" marL="91425"/>
                </a:tc>
              </a:tr>
              <a:tr h="1151125">
                <a:tc>
                  <a:txBody>
                    <a:bodyPr/>
                    <a:lstStyle/>
                    <a:p>
                      <a:pPr indent="0" lvl="0" marL="0" rtl="0" algn="l">
                        <a:spcBef>
                          <a:spcPts val="0"/>
                        </a:spcBef>
                        <a:spcAft>
                          <a:spcPts val="0"/>
                        </a:spcAft>
                        <a:buNone/>
                      </a:pPr>
                      <a:r>
                        <a:rPr lang="en-US" sz="1000"/>
                        <a:t>3</a:t>
                      </a:r>
                      <a:endParaRPr sz="1000"/>
                    </a:p>
                  </a:txBody>
                  <a:tcPr marT="91425" marB="91425" marR="91425" marL="91425"/>
                </a:tc>
                <a:tc>
                  <a:txBody>
                    <a:bodyPr/>
                    <a:lstStyle/>
                    <a:p>
                      <a:pPr indent="0" lvl="0" marL="0" rtl="0" algn="l">
                        <a:spcBef>
                          <a:spcPts val="0"/>
                        </a:spcBef>
                        <a:spcAft>
                          <a:spcPts val="0"/>
                        </a:spcAft>
                        <a:buNone/>
                      </a:pPr>
                      <a:r>
                        <a:rPr b="1" lang="en-US" sz="1000"/>
                        <a:t>MQ135 Air Quality &amp; Gas Sensor Datasheet / Tutorials</a:t>
                      </a:r>
                      <a:endParaRPr b="1" sz="1000"/>
                    </a:p>
                  </a:txBody>
                  <a:tcPr marT="91425" marB="91425" marR="91425" marL="91425"/>
                </a:tc>
                <a:tc>
                  <a:txBody>
                    <a:bodyPr/>
                    <a:lstStyle/>
                    <a:p>
                      <a:pPr indent="0" lvl="0" marL="0" rtl="0" algn="l">
                        <a:spcBef>
                          <a:spcPts val="0"/>
                        </a:spcBef>
                        <a:spcAft>
                          <a:spcPts val="0"/>
                        </a:spcAft>
                        <a:buNone/>
                      </a:pPr>
                      <a:r>
                        <a:rPr lang="en-US" sz="1000"/>
                        <a:t>Odor &amp; gas-based detection</a:t>
                      </a:r>
                      <a:endParaRPr sz="1000"/>
                    </a:p>
                  </a:txBody>
                  <a:tcPr marT="91425" marB="91425" marR="91425" marL="91425"/>
                </a:tc>
                <a:tc>
                  <a:txBody>
                    <a:bodyPr/>
                    <a:lstStyle/>
                    <a:p>
                      <a:pPr indent="0" lvl="0" marL="0" rtl="0" algn="l">
                        <a:spcBef>
                          <a:spcPts val="0"/>
                        </a:spcBef>
                        <a:spcAft>
                          <a:spcPts val="0"/>
                        </a:spcAft>
                        <a:buNone/>
                      </a:pPr>
                      <a:r>
                        <a:rPr lang="en-US" sz="1000"/>
                        <a:t>MQ-135 sensor with baseline calibration</a:t>
                      </a:r>
                      <a:endParaRPr sz="1000"/>
                    </a:p>
                  </a:txBody>
                  <a:tcPr marT="91425" marB="91425" marR="91425" marL="91425"/>
                </a:tc>
                <a:tc>
                  <a:txBody>
                    <a:bodyPr/>
                    <a:lstStyle/>
                    <a:p>
                      <a:pPr indent="0" lvl="0" marL="0" rtl="0" algn="l">
                        <a:spcBef>
                          <a:spcPts val="0"/>
                        </a:spcBef>
                        <a:spcAft>
                          <a:spcPts val="0"/>
                        </a:spcAft>
                        <a:buNone/>
                      </a:pPr>
                      <a:r>
                        <a:rPr lang="en-US" sz="1000"/>
                        <a:t>Detects VOCs &amp; ammonia gases associated with organic waste</a:t>
                      </a:r>
                      <a:endParaRPr sz="1000"/>
                    </a:p>
                  </a:txBody>
                  <a:tcPr marT="91425" marB="91425" marR="91425" marL="91425"/>
                </a:tc>
                <a:tc>
                  <a:txBody>
                    <a:bodyPr/>
                    <a:lstStyle/>
                    <a:p>
                      <a:pPr indent="0" lvl="0" marL="0" rtl="0" algn="l">
                        <a:spcBef>
                          <a:spcPts val="0"/>
                        </a:spcBef>
                        <a:spcAft>
                          <a:spcPts val="0"/>
                        </a:spcAft>
                        <a:buNone/>
                      </a:pPr>
                      <a:r>
                        <a:rPr lang="en-US" sz="1000"/>
                        <a:t>Raw values unstable without baseline; influenced by environment ventilation</a:t>
                      </a:r>
                      <a:endParaRPr sz="1000"/>
                    </a:p>
                  </a:txBody>
                  <a:tcPr marT="91425" marB="91425" marR="91425" marL="91425"/>
                </a:tc>
                <a:tc>
                  <a:txBody>
                    <a:bodyPr/>
                    <a:lstStyle/>
                    <a:p>
                      <a:pPr indent="0" lvl="0" marL="0" rtl="0" algn="l">
                        <a:spcBef>
                          <a:spcPts val="0"/>
                        </a:spcBef>
                        <a:spcAft>
                          <a:spcPts val="0"/>
                        </a:spcAft>
                        <a:buNone/>
                      </a:pPr>
                      <a:r>
                        <a:rPr lang="en-US" sz="1000"/>
                        <a:t>Used baseline auto-calibration logic to detect odor &amp; confirm wet waste</a:t>
                      </a:r>
                      <a:endParaRPr sz="1000"/>
                    </a:p>
                  </a:txBody>
                  <a:tcPr marT="91425" marB="91425" marR="91425" marL="91425"/>
                </a:tc>
              </a:tr>
              <a:tr h="983225">
                <a:tc>
                  <a:txBody>
                    <a:bodyPr/>
                    <a:lstStyle/>
                    <a:p>
                      <a:pPr indent="0" lvl="0" marL="0" rtl="0" algn="l">
                        <a:spcBef>
                          <a:spcPts val="0"/>
                        </a:spcBef>
                        <a:spcAft>
                          <a:spcPts val="0"/>
                        </a:spcAft>
                        <a:buNone/>
                      </a:pPr>
                      <a:r>
                        <a:rPr lang="en-US" sz="1000"/>
                        <a:t>4</a:t>
                      </a:r>
                      <a:endParaRPr sz="1000"/>
                    </a:p>
                  </a:txBody>
                  <a:tcPr marT="91425" marB="91425" marR="91425" marL="91425"/>
                </a:tc>
                <a:tc>
                  <a:txBody>
                    <a:bodyPr/>
                    <a:lstStyle/>
                    <a:p>
                      <a:pPr indent="0" lvl="0" marL="0" rtl="0" algn="l">
                        <a:spcBef>
                          <a:spcPts val="0"/>
                        </a:spcBef>
                        <a:spcAft>
                          <a:spcPts val="0"/>
                        </a:spcAft>
                        <a:buNone/>
                      </a:pPr>
                      <a:r>
                        <a:rPr b="1" lang="en-US" sz="1000"/>
                        <a:t>Smart Bin Ultrasonic Waste Level Detection Projects (IoT Research 2020-2024)</a:t>
                      </a:r>
                      <a:endParaRPr b="1" sz="1000"/>
                    </a:p>
                  </a:txBody>
                  <a:tcPr marT="91425" marB="91425" marR="91425" marL="91425"/>
                </a:tc>
                <a:tc>
                  <a:txBody>
                    <a:bodyPr/>
                    <a:lstStyle/>
                    <a:p>
                      <a:pPr indent="0" lvl="0" marL="0" rtl="0" algn="l">
                        <a:spcBef>
                          <a:spcPts val="0"/>
                        </a:spcBef>
                        <a:spcAft>
                          <a:spcPts val="0"/>
                        </a:spcAft>
                        <a:buNone/>
                      </a:pPr>
                      <a:r>
                        <a:rPr lang="en-US" sz="1000"/>
                        <a:t>Bin-fill monitoring using distance sensor</a:t>
                      </a:r>
                      <a:endParaRPr sz="1000"/>
                    </a:p>
                  </a:txBody>
                  <a:tcPr marT="91425" marB="91425" marR="91425" marL="91425"/>
                </a:tc>
                <a:tc>
                  <a:txBody>
                    <a:bodyPr/>
                    <a:lstStyle/>
                    <a:p>
                      <a:pPr indent="0" lvl="0" marL="0" rtl="0" algn="l">
                        <a:spcBef>
                          <a:spcPts val="0"/>
                        </a:spcBef>
                        <a:spcAft>
                          <a:spcPts val="0"/>
                        </a:spcAft>
                        <a:buNone/>
                      </a:pPr>
                      <a:r>
                        <a:rPr lang="en-US" sz="1000"/>
                        <a:t>Ultrasonic sensor HC-SR04</a:t>
                      </a:r>
                      <a:endParaRPr sz="1000"/>
                    </a:p>
                  </a:txBody>
                  <a:tcPr marT="91425" marB="91425" marR="91425" marL="91425"/>
                </a:tc>
                <a:tc>
                  <a:txBody>
                    <a:bodyPr/>
                    <a:lstStyle/>
                    <a:p>
                      <a:pPr indent="0" lvl="0" marL="0" rtl="0" algn="l">
                        <a:spcBef>
                          <a:spcPts val="0"/>
                        </a:spcBef>
                        <a:spcAft>
                          <a:spcPts val="0"/>
                        </a:spcAft>
                        <a:buNone/>
                      </a:pPr>
                      <a:r>
                        <a:rPr lang="en-US" sz="1000"/>
                        <a:t>Accurate fill-level estimation, works in enclosed bins</a:t>
                      </a:r>
                      <a:endParaRPr sz="1000"/>
                    </a:p>
                  </a:txBody>
                  <a:tcPr marT="91425" marB="91425" marR="91425" marL="91425"/>
                </a:tc>
                <a:tc>
                  <a:txBody>
                    <a:bodyPr/>
                    <a:lstStyle/>
                    <a:p>
                      <a:pPr indent="0" lvl="0" marL="0" rtl="0" algn="l">
                        <a:spcBef>
                          <a:spcPts val="0"/>
                        </a:spcBef>
                        <a:spcAft>
                          <a:spcPts val="0"/>
                        </a:spcAft>
                        <a:buNone/>
                      </a:pPr>
                      <a:r>
                        <a:rPr lang="en-US" sz="1000"/>
                        <a:t>Reflection issues on curved or soft trash surfaces</a:t>
                      </a:r>
                      <a:endParaRPr sz="1000"/>
                    </a:p>
                  </a:txBody>
                  <a:tcPr marT="91425" marB="91425" marR="91425" marL="91425"/>
                </a:tc>
                <a:tc>
                  <a:txBody>
                    <a:bodyPr/>
                    <a:lstStyle/>
                    <a:p>
                      <a:pPr indent="0" lvl="0" marL="0" rtl="0" algn="l">
                        <a:spcBef>
                          <a:spcPts val="0"/>
                        </a:spcBef>
                        <a:spcAft>
                          <a:spcPts val="0"/>
                        </a:spcAft>
                        <a:buNone/>
                      </a:pPr>
                      <a:r>
                        <a:rPr lang="en-US" sz="1000"/>
                        <a:t>Added distance-based % fill + overflow &amp; near-sensor limit logic</a:t>
                      </a:r>
                      <a:endParaRPr sz="1000"/>
                    </a:p>
                  </a:txBody>
                  <a:tcPr marT="91425" marB="91425" marR="91425" marL="91425"/>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g3a02e1ac065_0_58"/>
          <p:cNvSpPr txBox="1"/>
          <p:nvPr>
            <p:ph idx="12" type="sldNum"/>
          </p:nvPr>
        </p:nvSpPr>
        <p:spPr>
          <a:xfrm>
            <a:off x="8610600" y="6356350"/>
            <a:ext cx="2743200" cy="3651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57" name="Google Shape;157;g3a02e1ac065_0_58"/>
          <p:cNvSpPr txBox="1"/>
          <p:nvPr/>
        </p:nvSpPr>
        <p:spPr>
          <a:xfrm>
            <a:off x="3901148" y="656275"/>
            <a:ext cx="3712800" cy="954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800"/>
              <a:buFont typeface="Arial"/>
              <a:buNone/>
            </a:pPr>
            <a:r>
              <a:rPr b="1" lang="en-US" sz="2800">
                <a:latin typeface="Times New Roman"/>
                <a:ea typeface="Times New Roman"/>
                <a:cs typeface="Times New Roman"/>
                <a:sym typeface="Times New Roman"/>
              </a:rPr>
              <a:t>SOFTWARE REQUIREMENTS</a:t>
            </a:r>
            <a:endParaRPr b="0" i="0" sz="1400" u="none" cap="none" strike="noStrike">
              <a:solidFill>
                <a:srgbClr val="000000"/>
              </a:solidFill>
              <a:latin typeface="Arial"/>
              <a:ea typeface="Arial"/>
              <a:cs typeface="Arial"/>
              <a:sym typeface="Arial"/>
            </a:endParaRPr>
          </a:p>
        </p:txBody>
      </p:sp>
      <p:graphicFrame>
        <p:nvGraphicFramePr>
          <p:cNvPr id="158" name="Google Shape;158;g3a02e1ac065_0_58"/>
          <p:cNvGraphicFramePr/>
          <p:nvPr/>
        </p:nvGraphicFramePr>
        <p:xfrm>
          <a:off x="952500" y="2098675"/>
          <a:ext cx="3000000" cy="3000000"/>
        </p:xfrm>
        <a:graphic>
          <a:graphicData uri="http://schemas.openxmlformats.org/drawingml/2006/table">
            <a:tbl>
              <a:tblPr>
                <a:noFill/>
                <a:tableStyleId>{E21E2DA5-FD08-45D3-B0BC-DFD3291398F7}</a:tableStyleId>
              </a:tblPr>
              <a:tblGrid>
                <a:gridCol w="2571750"/>
                <a:gridCol w="2571750"/>
                <a:gridCol w="2571750"/>
                <a:gridCol w="2571750"/>
              </a:tblGrid>
              <a:tr h="381000">
                <a:tc>
                  <a:txBody>
                    <a:bodyPr/>
                    <a:lstStyle/>
                    <a:p>
                      <a:pPr indent="0" lvl="0" marL="0" rtl="0" algn="ctr">
                        <a:lnSpc>
                          <a:spcPct val="115000"/>
                        </a:lnSpc>
                        <a:spcBef>
                          <a:spcPts val="0"/>
                        </a:spcBef>
                        <a:spcAft>
                          <a:spcPts val="0"/>
                        </a:spcAft>
                        <a:buNone/>
                      </a:pPr>
                      <a:r>
                        <a:rPr b="1" lang="en-US" sz="1100"/>
                        <a:t>Category</a:t>
                      </a:r>
                      <a:endParaRPr b="1" sz="1100"/>
                    </a:p>
                  </a:txBody>
                  <a:tcPr marT="91425" marB="91425" marR="91425" marL="91425"/>
                </a:tc>
                <a:tc>
                  <a:txBody>
                    <a:bodyPr/>
                    <a:lstStyle/>
                    <a:p>
                      <a:pPr indent="0" lvl="0" marL="0" rtl="0" algn="ctr">
                        <a:lnSpc>
                          <a:spcPct val="115000"/>
                        </a:lnSpc>
                        <a:spcBef>
                          <a:spcPts val="0"/>
                        </a:spcBef>
                        <a:spcAft>
                          <a:spcPts val="0"/>
                        </a:spcAft>
                        <a:buNone/>
                      </a:pPr>
                      <a:r>
                        <a:rPr b="1" lang="en-US" sz="1100"/>
                        <a:t>Tool / Technology</a:t>
                      </a:r>
                      <a:endParaRPr b="1" sz="1100"/>
                    </a:p>
                  </a:txBody>
                  <a:tcPr marT="91425" marB="91425" marR="91425" marL="91425"/>
                </a:tc>
                <a:tc>
                  <a:txBody>
                    <a:bodyPr/>
                    <a:lstStyle/>
                    <a:p>
                      <a:pPr indent="0" lvl="0" marL="0" rtl="0" algn="ctr">
                        <a:lnSpc>
                          <a:spcPct val="115000"/>
                        </a:lnSpc>
                        <a:spcBef>
                          <a:spcPts val="0"/>
                        </a:spcBef>
                        <a:spcAft>
                          <a:spcPts val="0"/>
                        </a:spcAft>
                        <a:buNone/>
                      </a:pPr>
                      <a:r>
                        <a:rPr b="1" lang="en-US" sz="1100"/>
                        <a:t>Purpose</a:t>
                      </a:r>
                      <a:endParaRPr b="1" sz="1100"/>
                    </a:p>
                  </a:txBody>
                  <a:tcPr marT="91425" marB="91425" marR="91425" marL="91425"/>
                </a:tc>
                <a:tc>
                  <a:txBody>
                    <a:bodyPr/>
                    <a:lstStyle/>
                    <a:p>
                      <a:pPr indent="0" lvl="0" marL="0" rtl="0" algn="ctr">
                        <a:lnSpc>
                          <a:spcPct val="115000"/>
                        </a:lnSpc>
                        <a:spcBef>
                          <a:spcPts val="0"/>
                        </a:spcBef>
                        <a:spcAft>
                          <a:spcPts val="0"/>
                        </a:spcAft>
                        <a:buNone/>
                      </a:pPr>
                      <a:r>
                        <a:rPr b="1" lang="en-US" sz="1100"/>
                        <a:t>Notes</a:t>
                      </a:r>
                      <a:endParaRPr b="1" sz="1100"/>
                    </a:p>
                  </a:txBody>
                  <a:tcPr marT="91425" marB="91425" marR="91425" marL="91425"/>
                </a:tc>
              </a:tr>
              <a:tr h="381000">
                <a:tc>
                  <a:txBody>
                    <a:bodyPr/>
                    <a:lstStyle/>
                    <a:p>
                      <a:pPr indent="0" lvl="0" marL="0" rtl="0" algn="l">
                        <a:spcBef>
                          <a:spcPts val="0"/>
                        </a:spcBef>
                        <a:spcAft>
                          <a:spcPts val="0"/>
                        </a:spcAft>
                        <a:buNone/>
                      </a:pPr>
                      <a:r>
                        <a:rPr lang="en-US"/>
                        <a:t>Programming Language</a:t>
                      </a:r>
                      <a:endParaRPr/>
                    </a:p>
                  </a:txBody>
                  <a:tcPr marT="91425" marB="91425" marR="91425" marL="91425"/>
                </a:tc>
                <a:tc>
                  <a:txBody>
                    <a:bodyPr/>
                    <a:lstStyle/>
                    <a:p>
                      <a:pPr indent="0" lvl="0" marL="0" rtl="0" algn="l">
                        <a:spcBef>
                          <a:spcPts val="0"/>
                        </a:spcBef>
                        <a:spcAft>
                          <a:spcPts val="0"/>
                        </a:spcAft>
                        <a:buNone/>
                      </a:pPr>
                      <a:r>
                        <a:rPr lang="en-US"/>
                        <a:t>Python</a:t>
                      </a:r>
                      <a:endParaRPr/>
                    </a:p>
                  </a:txBody>
                  <a:tcPr marT="91425" marB="91425" marR="91425" marL="91425"/>
                </a:tc>
                <a:tc>
                  <a:txBody>
                    <a:bodyPr/>
                    <a:lstStyle/>
                    <a:p>
                      <a:pPr indent="0" lvl="0" marL="0" rtl="0" algn="l">
                        <a:spcBef>
                          <a:spcPts val="0"/>
                        </a:spcBef>
                        <a:spcAft>
                          <a:spcPts val="0"/>
                        </a:spcAft>
                        <a:buNone/>
                      </a:pPr>
                      <a:r>
                        <a:rPr lang="en-US"/>
                        <a:t>ML model &amp; Flask backend</a:t>
                      </a:r>
                      <a:endParaRPr/>
                    </a:p>
                  </a:txBody>
                  <a:tcPr marT="91425" marB="91425" marR="91425" marL="91425"/>
                </a:tc>
                <a:tc>
                  <a:txBody>
                    <a:bodyPr/>
                    <a:lstStyle/>
                    <a:p>
                      <a:pPr indent="0" lvl="0" marL="0" rtl="0" algn="l">
                        <a:spcBef>
                          <a:spcPts val="0"/>
                        </a:spcBef>
                        <a:spcAft>
                          <a:spcPts val="0"/>
                        </a:spcAft>
                        <a:buNone/>
                      </a:pPr>
                      <a:r>
                        <a:rPr lang="en-US"/>
                        <a:t>Used for inference + server</a:t>
                      </a:r>
                      <a:endParaRPr/>
                    </a:p>
                  </a:txBody>
                  <a:tcPr marT="91425" marB="91425" marR="91425" marL="91425"/>
                </a:tc>
              </a:tr>
              <a:tr h="381000">
                <a:tc>
                  <a:txBody>
                    <a:bodyPr/>
                    <a:lstStyle/>
                    <a:p>
                      <a:pPr indent="0" lvl="0" marL="0" rtl="0" algn="l">
                        <a:spcBef>
                          <a:spcPts val="0"/>
                        </a:spcBef>
                        <a:spcAft>
                          <a:spcPts val="0"/>
                        </a:spcAft>
                        <a:buNone/>
                      </a:pPr>
                      <a:r>
                        <a:rPr lang="en-US"/>
                        <a:t>Microcontroller Language</a:t>
                      </a:r>
                      <a:endParaRPr/>
                    </a:p>
                  </a:txBody>
                  <a:tcPr marT="91425" marB="91425" marR="91425" marL="91425"/>
                </a:tc>
                <a:tc>
                  <a:txBody>
                    <a:bodyPr/>
                    <a:lstStyle/>
                    <a:p>
                      <a:pPr indent="0" lvl="0" marL="0" rtl="0" algn="l">
                        <a:spcBef>
                          <a:spcPts val="0"/>
                        </a:spcBef>
                        <a:spcAft>
                          <a:spcPts val="0"/>
                        </a:spcAft>
                        <a:buNone/>
                      </a:pPr>
                      <a:r>
                        <a:rPr lang="en-US"/>
                        <a:t>C/C++ (Arduino)</a:t>
                      </a:r>
                      <a:endParaRPr/>
                    </a:p>
                  </a:txBody>
                  <a:tcPr marT="91425" marB="91425" marR="91425" marL="91425"/>
                </a:tc>
                <a:tc>
                  <a:txBody>
                    <a:bodyPr/>
                    <a:lstStyle/>
                    <a:p>
                      <a:pPr indent="0" lvl="0" marL="0" rtl="0" algn="l">
                        <a:spcBef>
                          <a:spcPts val="0"/>
                        </a:spcBef>
                        <a:spcAft>
                          <a:spcPts val="0"/>
                        </a:spcAft>
                        <a:buNone/>
                      </a:pPr>
                      <a:r>
                        <a:rPr lang="en-US"/>
                        <a:t>ESP32 firmware</a:t>
                      </a:r>
                      <a:endParaRPr/>
                    </a:p>
                  </a:txBody>
                  <a:tcPr marT="91425" marB="91425" marR="91425" marL="91425"/>
                </a:tc>
                <a:tc>
                  <a:txBody>
                    <a:bodyPr/>
                    <a:lstStyle/>
                    <a:p>
                      <a:pPr indent="0" lvl="0" marL="0" rtl="0" algn="l">
                        <a:spcBef>
                          <a:spcPts val="0"/>
                        </a:spcBef>
                        <a:spcAft>
                          <a:spcPts val="0"/>
                        </a:spcAft>
                        <a:buNone/>
                      </a:pPr>
                      <a:r>
                        <a:rPr lang="en-US"/>
                        <a:t>Sensor reading + WiFi + buzzer control</a:t>
                      </a:r>
                      <a:endParaRPr/>
                    </a:p>
                  </a:txBody>
                  <a:tcPr marT="91425" marB="91425" marR="91425" marL="91425"/>
                </a:tc>
              </a:tr>
              <a:tr h="381000">
                <a:tc>
                  <a:txBody>
                    <a:bodyPr/>
                    <a:lstStyle/>
                    <a:p>
                      <a:pPr indent="0" lvl="0" marL="0" rtl="0" algn="l">
                        <a:spcBef>
                          <a:spcPts val="0"/>
                        </a:spcBef>
                        <a:spcAft>
                          <a:spcPts val="0"/>
                        </a:spcAft>
                        <a:buNone/>
                      </a:pPr>
                      <a:r>
                        <a:rPr lang="en-US"/>
                        <a:t>Framework</a:t>
                      </a:r>
                      <a:endParaRPr/>
                    </a:p>
                  </a:txBody>
                  <a:tcPr marT="91425" marB="91425" marR="91425" marL="91425"/>
                </a:tc>
                <a:tc>
                  <a:txBody>
                    <a:bodyPr/>
                    <a:lstStyle/>
                    <a:p>
                      <a:pPr indent="0" lvl="0" marL="0" rtl="0" algn="l">
                        <a:spcBef>
                          <a:spcPts val="0"/>
                        </a:spcBef>
                        <a:spcAft>
                          <a:spcPts val="0"/>
                        </a:spcAft>
                        <a:buNone/>
                      </a:pPr>
                      <a:r>
                        <a:rPr lang="en-US"/>
                        <a:t>Flask</a:t>
                      </a:r>
                      <a:endParaRPr/>
                    </a:p>
                  </a:txBody>
                  <a:tcPr marT="91425" marB="91425" marR="91425" marL="91425"/>
                </a:tc>
                <a:tc>
                  <a:txBody>
                    <a:bodyPr/>
                    <a:lstStyle/>
                    <a:p>
                      <a:pPr indent="0" lvl="0" marL="0" rtl="0" algn="l">
                        <a:spcBef>
                          <a:spcPts val="0"/>
                        </a:spcBef>
                        <a:spcAft>
                          <a:spcPts val="0"/>
                        </a:spcAft>
                        <a:buNone/>
                      </a:pPr>
                      <a:r>
                        <a:rPr lang="en-US"/>
                        <a:t>Web dashboard &amp; ESP32 API</a:t>
                      </a:r>
                      <a:endParaRPr/>
                    </a:p>
                  </a:txBody>
                  <a:tcPr marT="91425" marB="91425" marR="91425" marL="91425"/>
                </a:tc>
                <a:tc>
                  <a:txBody>
                    <a:bodyPr/>
                    <a:lstStyle/>
                    <a:p>
                      <a:pPr indent="0" lvl="0" marL="0" rtl="0" algn="l">
                        <a:spcBef>
                          <a:spcPts val="0"/>
                        </a:spcBef>
                        <a:spcAft>
                          <a:spcPts val="0"/>
                        </a:spcAft>
                        <a:buNone/>
                      </a:pPr>
                      <a:r>
                        <a:rPr lang="en-US"/>
                        <a:t>Real-time monitoring</a:t>
                      </a:r>
                      <a:endParaRPr/>
                    </a:p>
                  </a:txBody>
                  <a:tcPr marT="91425" marB="91425" marR="91425" marL="91425"/>
                </a:tc>
              </a:tr>
              <a:tr h="381000">
                <a:tc>
                  <a:txBody>
                    <a:bodyPr/>
                    <a:lstStyle/>
                    <a:p>
                      <a:pPr indent="0" lvl="0" marL="0" rtl="0" algn="l">
                        <a:spcBef>
                          <a:spcPts val="0"/>
                        </a:spcBef>
                        <a:spcAft>
                          <a:spcPts val="0"/>
                        </a:spcAft>
                        <a:buNone/>
                      </a:pPr>
                      <a:r>
                        <a:rPr lang="en-US"/>
                        <a:t>ML Library</a:t>
                      </a:r>
                      <a:endParaRPr/>
                    </a:p>
                  </a:txBody>
                  <a:tcPr marT="91425" marB="91425" marR="91425" marL="91425"/>
                </a:tc>
                <a:tc>
                  <a:txBody>
                    <a:bodyPr/>
                    <a:lstStyle/>
                    <a:p>
                      <a:pPr indent="0" lvl="0" marL="0" rtl="0" algn="l">
                        <a:spcBef>
                          <a:spcPts val="0"/>
                        </a:spcBef>
                        <a:spcAft>
                          <a:spcPts val="0"/>
                        </a:spcAft>
                        <a:buNone/>
                      </a:pPr>
                      <a:r>
                        <a:rPr lang="en-US"/>
                        <a:t>TensorFlow / Keras</a:t>
                      </a:r>
                      <a:endParaRPr/>
                    </a:p>
                  </a:txBody>
                  <a:tcPr marT="91425" marB="91425" marR="91425" marL="91425"/>
                </a:tc>
                <a:tc>
                  <a:txBody>
                    <a:bodyPr/>
                    <a:lstStyle/>
                    <a:p>
                      <a:pPr indent="0" lvl="0" marL="0" rtl="0" algn="l">
                        <a:spcBef>
                          <a:spcPts val="0"/>
                        </a:spcBef>
                        <a:spcAft>
                          <a:spcPts val="0"/>
                        </a:spcAft>
                        <a:buNone/>
                      </a:pPr>
                      <a:r>
                        <a:rPr lang="en-US"/>
                        <a:t>Deep learning model loading &amp; prediction</a:t>
                      </a:r>
                      <a:endParaRPr/>
                    </a:p>
                  </a:txBody>
                  <a:tcPr marT="91425" marB="91425" marR="91425" marL="91425"/>
                </a:tc>
                <a:tc>
                  <a:txBody>
                    <a:bodyPr/>
                    <a:lstStyle/>
                    <a:p>
                      <a:pPr indent="0" lvl="0" marL="0" rtl="0" algn="l">
                        <a:spcBef>
                          <a:spcPts val="0"/>
                        </a:spcBef>
                        <a:spcAft>
                          <a:spcPts val="0"/>
                        </a:spcAft>
                        <a:buNone/>
                      </a:pPr>
                      <a:r>
                        <a:rPr lang="en-US"/>
                        <a:t>H5 waste classification model</a:t>
                      </a:r>
                      <a:endParaRPr/>
                    </a:p>
                  </a:txBody>
                  <a:tcPr marT="91425" marB="91425" marR="91425" marL="91425"/>
                </a:tc>
              </a:tr>
              <a:tr h="381000">
                <a:tc>
                  <a:txBody>
                    <a:bodyPr/>
                    <a:lstStyle/>
                    <a:p>
                      <a:pPr indent="0" lvl="0" marL="0" rtl="0" algn="l">
                        <a:spcBef>
                          <a:spcPts val="0"/>
                        </a:spcBef>
                        <a:spcAft>
                          <a:spcPts val="0"/>
                        </a:spcAft>
                        <a:buNone/>
                      </a:pPr>
                      <a:r>
                        <a:rPr lang="en-US"/>
                        <a:t>Computer Vision</a:t>
                      </a:r>
                      <a:endParaRPr/>
                    </a:p>
                  </a:txBody>
                  <a:tcPr marT="91425" marB="91425" marR="91425" marL="91425"/>
                </a:tc>
                <a:tc>
                  <a:txBody>
                    <a:bodyPr/>
                    <a:lstStyle/>
                    <a:p>
                      <a:pPr indent="0" lvl="0" marL="0" rtl="0" algn="l">
                        <a:spcBef>
                          <a:spcPts val="0"/>
                        </a:spcBef>
                        <a:spcAft>
                          <a:spcPts val="0"/>
                        </a:spcAft>
                        <a:buNone/>
                      </a:pPr>
                      <a:r>
                        <a:rPr lang="en-US"/>
                        <a:t>OpenCV</a:t>
                      </a:r>
                      <a:endParaRPr/>
                    </a:p>
                  </a:txBody>
                  <a:tcPr marT="91425" marB="91425" marR="91425" marL="91425"/>
                </a:tc>
                <a:tc>
                  <a:txBody>
                    <a:bodyPr/>
                    <a:lstStyle/>
                    <a:p>
                      <a:pPr indent="0" lvl="0" marL="0" rtl="0" algn="l">
                        <a:spcBef>
                          <a:spcPts val="0"/>
                        </a:spcBef>
                        <a:spcAft>
                          <a:spcPts val="0"/>
                        </a:spcAft>
                        <a:buNone/>
                      </a:pPr>
                      <a:r>
                        <a:rPr lang="en-US"/>
                        <a:t>Webcam capture &amp; frame processing</a:t>
                      </a:r>
                      <a:endParaRPr/>
                    </a:p>
                  </a:txBody>
                  <a:tcPr marT="91425" marB="91425" marR="91425" marL="91425"/>
                </a:tc>
                <a:tc>
                  <a:txBody>
                    <a:bodyPr/>
                    <a:lstStyle/>
                    <a:p>
                      <a:pPr indent="0" lvl="0" marL="0" rtl="0" algn="l">
                        <a:spcBef>
                          <a:spcPts val="0"/>
                        </a:spcBef>
                        <a:spcAft>
                          <a:spcPts val="0"/>
                        </a:spcAft>
                        <a:buNone/>
                      </a:pPr>
                      <a:r>
                        <a:rPr lang="en-US"/>
                        <a:t>Real-time detection every 5s</a:t>
                      </a:r>
                      <a:endParaRPr/>
                    </a:p>
                  </a:txBody>
                  <a:tcPr marT="91425" marB="91425" marR="91425" marL="91425"/>
                </a:tc>
              </a:tr>
              <a:tr h="381000">
                <a:tc>
                  <a:txBody>
                    <a:bodyPr/>
                    <a:lstStyle/>
                    <a:p>
                      <a:pPr indent="0" lvl="0" marL="0" rtl="0" algn="l">
                        <a:spcBef>
                          <a:spcPts val="0"/>
                        </a:spcBef>
                        <a:spcAft>
                          <a:spcPts val="0"/>
                        </a:spcAft>
                        <a:buNone/>
                      </a:pPr>
                      <a:r>
                        <a:rPr lang="en-US"/>
                        <a:t>UI Library</a:t>
                      </a:r>
                      <a:endParaRPr/>
                    </a:p>
                  </a:txBody>
                  <a:tcPr marT="91425" marB="91425" marR="91425" marL="91425"/>
                </a:tc>
                <a:tc>
                  <a:txBody>
                    <a:bodyPr/>
                    <a:lstStyle/>
                    <a:p>
                      <a:pPr indent="0" lvl="0" marL="0" rtl="0" algn="l">
                        <a:spcBef>
                          <a:spcPts val="0"/>
                        </a:spcBef>
                        <a:spcAft>
                          <a:spcPts val="0"/>
                        </a:spcAft>
                        <a:buNone/>
                      </a:pPr>
                      <a:r>
                        <a:rPr lang="en-US"/>
                        <a:t>HTML, CSS, JavaScript</a:t>
                      </a:r>
                      <a:endParaRPr/>
                    </a:p>
                  </a:txBody>
                  <a:tcPr marT="91425" marB="91425" marR="91425" marL="91425"/>
                </a:tc>
                <a:tc>
                  <a:txBody>
                    <a:bodyPr/>
                    <a:lstStyle/>
                    <a:p>
                      <a:pPr indent="0" lvl="0" marL="0" rtl="0" algn="l">
                        <a:spcBef>
                          <a:spcPts val="0"/>
                        </a:spcBef>
                        <a:spcAft>
                          <a:spcPts val="0"/>
                        </a:spcAft>
                        <a:buNone/>
                      </a:pPr>
                      <a:r>
                        <a:rPr lang="en-US"/>
                        <a:t>Dashboard UI</a:t>
                      </a:r>
                      <a:endParaRPr/>
                    </a:p>
                  </a:txBody>
                  <a:tcPr marT="91425" marB="91425" marR="91425" marL="91425"/>
                </a:tc>
                <a:tc>
                  <a:txBody>
                    <a:bodyPr/>
                    <a:lstStyle/>
                    <a:p>
                      <a:pPr indent="0" lvl="0" marL="0" rtl="0" algn="l">
                        <a:spcBef>
                          <a:spcPts val="0"/>
                        </a:spcBef>
                        <a:spcAft>
                          <a:spcPts val="0"/>
                        </a:spcAft>
                        <a:buNone/>
                      </a:pPr>
                      <a:r>
                        <a:rPr lang="en-US"/>
                        <a:t>Live updates via fetch polling</a:t>
                      </a:r>
                      <a:endParaRPr/>
                    </a:p>
                  </a:txBody>
                  <a:tcPr marT="91425" marB="91425" marR="91425" marL="91425"/>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g3a02e1ac065_0_67"/>
          <p:cNvSpPr txBox="1"/>
          <p:nvPr>
            <p:ph idx="12" type="sldNum"/>
          </p:nvPr>
        </p:nvSpPr>
        <p:spPr>
          <a:xfrm>
            <a:off x="8610600" y="6356350"/>
            <a:ext cx="2743200" cy="3651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65" name="Google Shape;165;g3a02e1ac065_0_67"/>
          <p:cNvSpPr txBox="1"/>
          <p:nvPr/>
        </p:nvSpPr>
        <p:spPr>
          <a:xfrm>
            <a:off x="3939473" y="0"/>
            <a:ext cx="3712800" cy="954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800"/>
              <a:buFont typeface="Arial"/>
              <a:buNone/>
            </a:pPr>
            <a:r>
              <a:rPr b="1" lang="en-US" sz="2800">
                <a:latin typeface="Times New Roman"/>
                <a:ea typeface="Times New Roman"/>
                <a:cs typeface="Times New Roman"/>
                <a:sym typeface="Times New Roman"/>
              </a:rPr>
              <a:t>HARDWARE </a:t>
            </a:r>
            <a:r>
              <a:rPr b="1" lang="en-US" sz="2800">
                <a:latin typeface="Times New Roman"/>
                <a:ea typeface="Times New Roman"/>
                <a:cs typeface="Times New Roman"/>
                <a:sym typeface="Times New Roman"/>
              </a:rPr>
              <a:t>REQUIREMENTS</a:t>
            </a:r>
            <a:endParaRPr b="0" i="0" sz="1400" u="none" cap="none" strike="noStrike">
              <a:solidFill>
                <a:srgbClr val="000000"/>
              </a:solidFill>
              <a:latin typeface="Arial"/>
              <a:ea typeface="Arial"/>
              <a:cs typeface="Arial"/>
              <a:sym typeface="Arial"/>
            </a:endParaRPr>
          </a:p>
        </p:txBody>
      </p:sp>
      <p:graphicFrame>
        <p:nvGraphicFramePr>
          <p:cNvPr id="166" name="Google Shape;166;g3a02e1ac065_0_67"/>
          <p:cNvGraphicFramePr/>
          <p:nvPr/>
        </p:nvGraphicFramePr>
        <p:xfrm>
          <a:off x="35600" y="1058888"/>
          <a:ext cx="3000000" cy="3000000"/>
        </p:xfrm>
        <a:graphic>
          <a:graphicData uri="http://schemas.openxmlformats.org/drawingml/2006/table">
            <a:tbl>
              <a:tblPr>
                <a:noFill/>
                <a:tableStyleId>{E21E2DA5-FD08-45D3-B0BC-DFD3291398F7}</a:tableStyleId>
              </a:tblPr>
              <a:tblGrid>
                <a:gridCol w="3030200"/>
                <a:gridCol w="3030200"/>
                <a:gridCol w="3030200"/>
                <a:gridCol w="3030200"/>
              </a:tblGrid>
              <a:tr h="293025">
                <a:tc>
                  <a:txBody>
                    <a:bodyPr/>
                    <a:lstStyle/>
                    <a:p>
                      <a:pPr indent="0" lvl="0" marL="0" rtl="0" algn="ctr">
                        <a:lnSpc>
                          <a:spcPct val="115000"/>
                        </a:lnSpc>
                        <a:spcBef>
                          <a:spcPts val="0"/>
                        </a:spcBef>
                        <a:spcAft>
                          <a:spcPts val="0"/>
                        </a:spcAft>
                        <a:buNone/>
                      </a:pPr>
                      <a:r>
                        <a:rPr b="1" lang="en-US" sz="1100"/>
                        <a:t>Category</a:t>
                      </a:r>
                      <a:endParaRPr b="1" sz="1100"/>
                    </a:p>
                  </a:txBody>
                  <a:tcPr marT="91425" marB="91425" marR="91425" marL="91425"/>
                </a:tc>
                <a:tc>
                  <a:txBody>
                    <a:bodyPr/>
                    <a:lstStyle/>
                    <a:p>
                      <a:pPr indent="0" lvl="0" marL="0" rtl="0" algn="ctr">
                        <a:lnSpc>
                          <a:spcPct val="115000"/>
                        </a:lnSpc>
                        <a:spcBef>
                          <a:spcPts val="0"/>
                        </a:spcBef>
                        <a:spcAft>
                          <a:spcPts val="0"/>
                        </a:spcAft>
                        <a:buNone/>
                      </a:pPr>
                      <a:r>
                        <a:rPr b="1" lang="en-US" sz="1100"/>
                        <a:t>Component</a:t>
                      </a:r>
                      <a:endParaRPr b="1" sz="1100"/>
                    </a:p>
                  </a:txBody>
                  <a:tcPr marT="91425" marB="91425" marR="91425" marL="91425"/>
                </a:tc>
                <a:tc>
                  <a:txBody>
                    <a:bodyPr/>
                    <a:lstStyle/>
                    <a:p>
                      <a:pPr indent="0" lvl="0" marL="0" rtl="0" algn="ctr">
                        <a:lnSpc>
                          <a:spcPct val="115000"/>
                        </a:lnSpc>
                        <a:spcBef>
                          <a:spcPts val="0"/>
                        </a:spcBef>
                        <a:spcAft>
                          <a:spcPts val="0"/>
                        </a:spcAft>
                        <a:buNone/>
                      </a:pPr>
                      <a:r>
                        <a:rPr b="1" lang="en-US" sz="1100"/>
                        <a:t>Purpose</a:t>
                      </a:r>
                      <a:endParaRPr b="1" sz="1100"/>
                    </a:p>
                  </a:txBody>
                  <a:tcPr marT="91425" marB="91425" marR="91425" marL="91425"/>
                </a:tc>
                <a:tc>
                  <a:txBody>
                    <a:bodyPr/>
                    <a:lstStyle/>
                    <a:p>
                      <a:pPr indent="0" lvl="0" marL="0" rtl="0" algn="ctr">
                        <a:lnSpc>
                          <a:spcPct val="115000"/>
                        </a:lnSpc>
                        <a:spcBef>
                          <a:spcPts val="0"/>
                        </a:spcBef>
                        <a:spcAft>
                          <a:spcPts val="0"/>
                        </a:spcAft>
                        <a:buNone/>
                      </a:pPr>
                      <a:r>
                        <a:rPr b="1" lang="en-US" sz="1100"/>
                        <a:t>Notes</a:t>
                      </a:r>
                      <a:endParaRPr b="1" sz="1100"/>
                    </a:p>
                  </a:txBody>
                  <a:tcPr marT="91425" marB="91425" marR="91425" marL="91425"/>
                </a:tc>
              </a:tr>
              <a:tr h="509625">
                <a:tc>
                  <a:txBody>
                    <a:bodyPr/>
                    <a:lstStyle/>
                    <a:p>
                      <a:pPr indent="0" lvl="0" marL="0" rtl="0" algn="l">
                        <a:spcBef>
                          <a:spcPts val="0"/>
                        </a:spcBef>
                        <a:spcAft>
                          <a:spcPts val="0"/>
                        </a:spcAft>
                        <a:buNone/>
                      </a:pPr>
                      <a:r>
                        <a:rPr lang="en-US"/>
                        <a:t>MCU</a:t>
                      </a:r>
                      <a:endParaRPr/>
                    </a:p>
                  </a:txBody>
                  <a:tcPr marT="91425" marB="91425" marR="91425" marL="91425"/>
                </a:tc>
                <a:tc>
                  <a:txBody>
                    <a:bodyPr/>
                    <a:lstStyle/>
                    <a:p>
                      <a:pPr indent="0" lvl="0" marL="0" rtl="0" algn="l">
                        <a:spcBef>
                          <a:spcPts val="0"/>
                        </a:spcBef>
                        <a:spcAft>
                          <a:spcPts val="0"/>
                        </a:spcAft>
                        <a:buNone/>
                      </a:pPr>
                      <a:r>
                        <a:rPr lang="en-US"/>
                        <a:t>ESP32-S3</a:t>
                      </a:r>
                      <a:endParaRPr/>
                    </a:p>
                  </a:txBody>
                  <a:tcPr marT="91425" marB="91425" marR="91425" marL="91425"/>
                </a:tc>
                <a:tc>
                  <a:txBody>
                    <a:bodyPr/>
                    <a:lstStyle/>
                    <a:p>
                      <a:pPr indent="0" lvl="0" marL="0" rtl="0" algn="l">
                        <a:spcBef>
                          <a:spcPts val="0"/>
                        </a:spcBef>
                        <a:spcAft>
                          <a:spcPts val="0"/>
                        </a:spcAft>
                        <a:buNone/>
                      </a:pPr>
                      <a:r>
                        <a:rPr lang="en-US"/>
                        <a:t>Main controller, Wi-Fi + sensor hub</a:t>
                      </a:r>
                      <a:endParaRPr/>
                    </a:p>
                  </a:txBody>
                  <a:tcPr marT="91425" marB="91425" marR="91425" marL="91425"/>
                </a:tc>
                <a:tc>
                  <a:txBody>
                    <a:bodyPr/>
                    <a:lstStyle/>
                    <a:p>
                      <a:pPr indent="0" lvl="0" marL="0" rtl="0" algn="l">
                        <a:spcBef>
                          <a:spcPts val="0"/>
                        </a:spcBef>
                        <a:spcAft>
                          <a:spcPts val="0"/>
                        </a:spcAft>
                        <a:buNone/>
                      </a:pPr>
                      <a:r>
                        <a:rPr lang="en-US"/>
                        <a:t>High-speed, AI-ready microcontroller</a:t>
                      </a:r>
                      <a:endParaRPr/>
                    </a:p>
                  </a:txBody>
                  <a:tcPr marT="91425" marB="91425" marR="91425" marL="91425"/>
                </a:tc>
              </a:tr>
              <a:tr h="331250">
                <a:tc>
                  <a:txBody>
                    <a:bodyPr/>
                    <a:lstStyle/>
                    <a:p>
                      <a:pPr indent="0" lvl="0" marL="0" rtl="0" algn="l">
                        <a:spcBef>
                          <a:spcPts val="0"/>
                        </a:spcBef>
                        <a:spcAft>
                          <a:spcPts val="0"/>
                        </a:spcAft>
                        <a:buNone/>
                      </a:pPr>
                      <a:r>
                        <a:rPr lang="en-US"/>
                        <a:t>Camera</a:t>
                      </a:r>
                      <a:endParaRPr/>
                    </a:p>
                  </a:txBody>
                  <a:tcPr marT="91425" marB="91425" marR="91425" marL="91425"/>
                </a:tc>
                <a:tc>
                  <a:txBody>
                    <a:bodyPr/>
                    <a:lstStyle/>
                    <a:p>
                      <a:pPr indent="0" lvl="0" marL="0" rtl="0" algn="l">
                        <a:spcBef>
                          <a:spcPts val="0"/>
                        </a:spcBef>
                        <a:spcAft>
                          <a:spcPts val="0"/>
                        </a:spcAft>
                        <a:buNone/>
                      </a:pPr>
                      <a:r>
                        <a:rPr lang="en-US"/>
                        <a:t>USB / Laptop Webcam</a:t>
                      </a:r>
                      <a:endParaRPr/>
                    </a:p>
                  </a:txBody>
                  <a:tcPr marT="91425" marB="91425" marR="91425" marL="91425"/>
                </a:tc>
                <a:tc>
                  <a:txBody>
                    <a:bodyPr/>
                    <a:lstStyle/>
                    <a:p>
                      <a:pPr indent="0" lvl="0" marL="0" rtl="0" algn="l">
                        <a:spcBef>
                          <a:spcPts val="0"/>
                        </a:spcBef>
                        <a:spcAft>
                          <a:spcPts val="0"/>
                        </a:spcAft>
                        <a:buNone/>
                      </a:pPr>
                      <a:r>
                        <a:rPr lang="en-US"/>
                        <a:t>ML waste classification</a:t>
                      </a:r>
                      <a:endParaRPr/>
                    </a:p>
                  </a:txBody>
                  <a:tcPr marT="91425" marB="91425" marR="91425" marL="91425"/>
                </a:tc>
                <a:tc>
                  <a:txBody>
                    <a:bodyPr/>
                    <a:lstStyle/>
                    <a:p>
                      <a:pPr indent="0" lvl="0" marL="0" rtl="0" algn="l">
                        <a:spcBef>
                          <a:spcPts val="0"/>
                        </a:spcBef>
                        <a:spcAft>
                          <a:spcPts val="0"/>
                        </a:spcAft>
                        <a:buNone/>
                      </a:pPr>
                      <a:r>
                        <a:rPr lang="en-US"/>
                        <a:t>Captures images every 5s</a:t>
                      </a:r>
                      <a:endParaRPr/>
                    </a:p>
                  </a:txBody>
                  <a:tcPr marT="91425" marB="91425" marR="91425" marL="91425"/>
                </a:tc>
              </a:tr>
              <a:tr h="509625">
                <a:tc>
                  <a:txBody>
                    <a:bodyPr/>
                    <a:lstStyle/>
                    <a:p>
                      <a:pPr indent="0" lvl="0" marL="0" rtl="0" algn="l">
                        <a:spcBef>
                          <a:spcPts val="0"/>
                        </a:spcBef>
                        <a:spcAft>
                          <a:spcPts val="0"/>
                        </a:spcAft>
                        <a:buNone/>
                      </a:pPr>
                      <a:r>
                        <a:rPr lang="en-US"/>
                        <a:t>Gas Sensor</a:t>
                      </a:r>
                      <a:endParaRPr/>
                    </a:p>
                  </a:txBody>
                  <a:tcPr marT="91425" marB="91425" marR="91425" marL="91425"/>
                </a:tc>
                <a:tc>
                  <a:txBody>
                    <a:bodyPr/>
                    <a:lstStyle/>
                    <a:p>
                      <a:pPr indent="0" lvl="0" marL="0" rtl="0" algn="l">
                        <a:spcBef>
                          <a:spcPts val="0"/>
                        </a:spcBef>
                        <a:spcAft>
                          <a:spcPts val="0"/>
                        </a:spcAft>
                        <a:buNone/>
                      </a:pPr>
                      <a:r>
                        <a:rPr lang="en-US"/>
                        <a:t>MQ-135</a:t>
                      </a:r>
                      <a:endParaRPr/>
                    </a:p>
                  </a:txBody>
                  <a:tcPr marT="91425" marB="91425" marR="91425" marL="91425"/>
                </a:tc>
                <a:tc>
                  <a:txBody>
                    <a:bodyPr/>
                    <a:lstStyle/>
                    <a:p>
                      <a:pPr indent="0" lvl="0" marL="0" rtl="0" algn="l">
                        <a:spcBef>
                          <a:spcPts val="0"/>
                        </a:spcBef>
                        <a:spcAft>
                          <a:spcPts val="0"/>
                        </a:spcAft>
                        <a:buNone/>
                      </a:pPr>
                      <a:r>
                        <a:rPr lang="en-US"/>
                        <a:t>Detects harmful gases from organic waste</a:t>
                      </a:r>
                      <a:endParaRPr/>
                    </a:p>
                  </a:txBody>
                  <a:tcPr marT="91425" marB="91425" marR="91425" marL="91425"/>
                </a:tc>
                <a:tc>
                  <a:txBody>
                    <a:bodyPr/>
                    <a:lstStyle/>
                    <a:p>
                      <a:pPr indent="0" lvl="0" marL="0" rtl="0" algn="l">
                        <a:spcBef>
                          <a:spcPts val="0"/>
                        </a:spcBef>
                        <a:spcAft>
                          <a:spcPts val="0"/>
                        </a:spcAft>
                        <a:buNone/>
                      </a:pPr>
                      <a:r>
                        <a:rPr lang="en-US"/>
                        <a:t>Baseline-calibrated detection</a:t>
                      </a:r>
                      <a:endParaRPr/>
                    </a:p>
                  </a:txBody>
                  <a:tcPr marT="91425" marB="91425" marR="91425" marL="91425"/>
                </a:tc>
              </a:tr>
              <a:tr h="509625">
                <a:tc>
                  <a:txBody>
                    <a:bodyPr/>
                    <a:lstStyle/>
                    <a:p>
                      <a:pPr indent="0" lvl="0" marL="0" rtl="0" algn="l">
                        <a:spcBef>
                          <a:spcPts val="0"/>
                        </a:spcBef>
                        <a:spcAft>
                          <a:spcPts val="0"/>
                        </a:spcAft>
                        <a:buNone/>
                      </a:pPr>
                      <a:r>
                        <a:rPr lang="en-US"/>
                        <a:t>Moisture Sensor</a:t>
                      </a:r>
                      <a:endParaRPr/>
                    </a:p>
                  </a:txBody>
                  <a:tcPr marT="91425" marB="91425" marR="91425" marL="91425"/>
                </a:tc>
                <a:tc>
                  <a:txBody>
                    <a:bodyPr/>
                    <a:lstStyle/>
                    <a:p>
                      <a:pPr indent="0" lvl="0" marL="0" rtl="0" algn="l">
                        <a:spcBef>
                          <a:spcPts val="0"/>
                        </a:spcBef>
                        <a:spcAft>
                          <a:spcPts val="0"/>
                        </a:spcAft>
                        <a:buNone/>
                      </a:pPr>
                      <a:r>
                        <a:rPr lang="en-US"/>
                        <a:t>Capacitive Soil Moisture Sensor</a:t>
                      </a:r>
                      <a:endParaRPr/>
                    </a:p>
                  </a:txBody>
                  <a:tcPr marT="91425" marB="91425" marR="91425" marL="91425"/>
                </a:tc>
                <a:tc>
                  <a:txBody>
                    <a:bodyPr/>
                    <a:lstStyle/>
                    <a:p>
                      <a:pPr indent="0" lvl="0" marL="0" rtl="0" algn="l">
                        <a:spcBef>
                          <a:spcPts val="0"/>
                        </a:spcBef>
                        <a:spcAft>
                          <a:spcPts val="0"/>
                        </a:spcAft>
                        <a:buNone/>
                      </a:pPr>
                      <a:r>
                        <a:rPr lang="en-US"/>
                        <a:t>Detects wet waste</a:t>
                      </a:r>
                      <a:endParaRPr/>
                    </a:p>
                  </a:txBody>
                  <a:tcPr marT="91425" marB="91425" marR="91425" marL="91425"/>
                </a:tc>
                <a:tc>
                  <a:txBody>
                    <a:bodyPr/>
                    <a:lstStyle/>
                    <a:p>
                      <a:pPr indent="0" lvl="0" marL="0" rtl="0" algn="l">
                        <a:spcBef>
                          <a:spcPts val="0"/>
                        </a:spcBef>
                        <a:spcAft>
                          <a:spcPts val="0"/>
                        </a:spcAft>
                        <a:buNone/>
                      </a:pPr>
                      <a:r>
                        <a:rPr lang="en-US"/>
                        <a:t>Corrosion-proof, accurate</a:t>
                      </a:r>
                      <a:endParaRPr/>
                    </a:p>
                  </a:txBody>
                  <a:tcPr marT="91425" marB="91425" marR="91425" marL="91425"/>
                </a:tc>
              </a:tr>
              <a:tr h="331250">
                <a:tc>
                  <a:txBody>
                    <a:bodyPr/>
                    <a:lstStyle/>
                    <a:p>
                      <a:pPr indent="0" lvl="0" marL="0" rtl="0" algn="l">
                        <a:spcBef>
                          <a:spcPts val="0"/>
                        </a:spcBef>
                        <a:spcAft>
                          <a:spcPts val="0"/>
                        </a:spcAft>
                        <a:buNone/>
                      </a:pPr>
                      <a:r>
                        <a:rPr lang="en-US"/>
                        <a:t>Ultrasonic Sensor</a:t>
                      </a:r>
                      <a:endParaRPr/>
                    </a:p>
                  </a:txBody>
                  <a:tcPr marT="91425" marB="91425" marR="91425" marL="91425"/>
                </a:tc>
                <a:tc>
                  <a:txBody>
                    <a:bodyPr/>
                    <a:lstStyle/>
                    <a:p>
                      <a:pPr indent="0" lvl="0" marL="0" rtl="0" algn="l">
                        <a:spcBef>
                          <a:spcPts val="0"/>
                        </a:spcBef>
                        <a:spcAft>
                          <a:spcPts val="0"/>
                        </a:spcAft>
                        <a:buNone/>
                      </a:pPr>
                      <a:r>
                        <a:rPr lang="en-US"/>
                        <a:t>HC-SR04</a:t>
                      </a:r>
                      <a:endParaRPr/>
                    </a:p>
                  </a:txBody>
                  <a:tcPr marT="91425" marB="91425" marR="91425" marL="91425"/>
                </a:tc>
                <a:tc>
                  <a:txBody>
                    <a:bodyPr/>
                    <a:lstStyle/>
                    <a:p>
                      <a:pPr indent="0" lvl="0" marL="0" rtl="0" algn="l">
                        <a:spcBef>
                          <a:spcPts val="0"/>
                        </a:spcBef>
                        <a:spcAft>
                          <a:spcPts val="0"/>
                        </a:spcAft>
                        <a:buNone/>
                      </a:pPr>
                      <a:r>
                        <a:rPr lang="en-US"/>
                        <a:t>Waste level detection</a:t>
                      </a:r>
                      <a:endParaRPr/>
                    </a:p>
                  </a:txBody>
                  <a:tcPr marT="91425" marB="91425" marR="91425" marL="91425"/>
                </a:tc>
                <a:tc>
                  <a:txBody>
                    <a:bodyPr/>
                    <a:lstStyle/>
                    <a:p>
                      <a:pPr indent="0" lvl="0" marL="0" rtl="0" algn="l">
                        <a:spcBef>
                          <a:spcPts val="0"/>
                        </a:spcBef>
                        <a:spcAft>
                          <a:spcPts val="0"/>
                        </a:spcAft>
                        <a:buNone/>
                      </a:pPr>
                      <a:r>
                        <a:rPr lang="en-US"/>
                        <a:t>Measures bin fill %</a:t>
                      </a:r>
                      <a:endParaRPr/>
                    </a:p>
                  </a:txBody>
                  <a:tcPr marT="91425" marB="91425" marR="91425" marL="91425"/>
                </a:tc>
              </a:tr>
              <a:tr h="509625">
                <a:tc>
                  <a:txBody>
                    <a:bodyPr/>
                    <a:lstStyle/>
                    <a:p>
                      <a:pPr indent="0" lvl="0" marL="0" rtl="0" algn="l">
                        <a:spcBef>
                          <a:spcPts val="0"/>
                        </a:spcBef>
                        <a:spcAft>
                          <a:spcPts val="0"/>
                        </a:spcAft>
                        <a:buNone/>
                      </a:pPr>
                      <a:r>
                        <a:rPr lang="en-US"/>
                        <a:t>Buzzer</a:t>
                      </a:r>
                      <a:endParaRPr/>
                    </a:p>
                  </a:txBody>
                  <a:tcPr marT="91425" marB="91425" marR="91425" marL="91425"/>
                </a:tc>
                <a:tc>
                  <a:txBody>
                    <a:bodyPr/>
                    <a:lstStyle/>
                    <a:p>
                      <a:pPr indent="0" lvl="0" marL="0" rtl="0" algn="l">
                        <a:spcBef>
                          <a:spcPts val="0"/>
                        </a:spcBef>
                        <a:spcAft>
                          <a:spcPts val="0"/>
                        </a:spcAft>
                        <a:buNone/>
                      </a:pPr>
                      <a:r>
                        <a:rPr lang="en-US"/>
                        <a:t>Piezo Buzzer</a:t>
                      </a:r>
                      <a:endParaRPr/>
                    </a:p>
                  </a:txBody>
                  <a:tcPr marT="91425" marB="91425" marR="91425" marL="91425"/>
                </a:tc>
                <a:tc>
                  <a:txBody>
                    <a:bodyPr/>
                    <a:lstStyle/>
                    <a:p>
                      <a:pPr indent="0" lvl="0" marL="0" rtl="0" algn="l">
                        <a:spcBef>
                          <a:spcPts val="0"/>
                        </a:spcBef>
                        <a:spcAft>
                          <a:spcPts val="0"/>
                        </a:spcAft>
                        <a:buNone/>
                      </a:pPr>
                      <a:r>
                        <a:rPr lang="en-US"/>
                        <a:t>Alerts for wet waste / bin full</a:t>
                      </a:r>
                      <a:endParaRPr/>
                    </a:p>
                  </a:txBody>
                  <a:tcPr marT="91425" marB="91425" marR="91425" marL="91425"/>
                </a:tc>
                <a:tc>
                  <a:txBody>
                    <a:bodyPr/>
                    <a:lstStyle/>
                    <a:p>
                      <a:pPr indent="0" lvl="0" marL="0" rtl="0" algn="l">
                        <a:spcBef>
                          <a:spcPts val="0"/>
                        </a:spcBef>
                        <a:spcAft>
                          <a:spcPts val="0"/>
                        </a:spcAft>
                        <a:buNone/>
                      </a:pPr>
                      <a:r>
                        <a:rPr lang="en-US"/>
                        <a:t>Pattern-based alerts</a:t>
                      </a:r>
                      <a:endParaRPr/>
                    </a:p>
                  </a:txBody>
                  <a:tcPr marT="91425" marB="91425" marR="91425" marL="91425"/>
                </a:tc>
              </a:tr>
              <a:tr h="509625">
                <a:tc>
                  <a:txBody>
                    <a:bodyPr/>
                    <a:lstStyle/>
                    <a:p>
                      <a:pPr indent="0" lvl="0" marL="0" rtl="0" algn="l">
                        <a:spcBef>
                          <a:spcPts val="0"/>
                        </a:spcBef>
                        <a:spcAft>
                          <a:spcPts val="0"/>
                        </a:spcAft>
                        <a:buNone/>
                      </a:pPr>
                      <a:r>
                        <a:rPr lang="en-US"/>
                        <a:t>Indicator LEDs</a:t>
                      </a:r>
                      <a:endParaRPr/>
                    </a:p>
                  </a:txBody>
                  <a:tcPr marT="91425" marB="91425" marR="91425" marL="91425"/>
                </a:tc>
                <a:tc>
                  <a:txBody>
                    <a:bodyPr/>
                    <a:lstStyle/>
                    <a:p>
                      <a:pPr indent="0" lvl="0" marL="0" rtl="0" algn="l">
                        <a:spcBef>
                          <a:spcPts val="0"/>
                        </a:spcBef>
                        <a:spcAft>
                          <a:spcPts val="0"/>
                        </a:spcAft>
                        <a:buNone/>
                      </a:pPr>
                      <a:r>
                        <a:rPr lang="en-US"/>
                        <a:t>Green &amp; Yellow LEDs</a:t>
                      </a:r>
                      <a:endParaRPr/>
                    </a:p>
                  </a:txBody>
                  <a:tcPr marT="91425" marB="91425" marR="91425" marL="91425"/>
                </a:tc>
                <a:tc>
                  <a:txBody>
                    <a:bodyPr/>
                    <a:lstStyle/>
                    <a:p>
                      <a:pPr indent="0" lvl="0" marL="0" rtl="0" algn="l">
                        <a:spcBef>
                          <a:spcPts val="0"/>
                        </a:spcBef>
                        <a:spcAft>
                          <a:spcPts val="0"/>
                        </a:spcAft>
                        <a:buNone/>
                      </a:pPr>
                      <a:r>
                        <a:rPr lang="en-US"/>
                        <a:t>Visual waste status + bin full</a:t>
                      </a:r>
                      <a:endParaRPr/>
                    </a:p>
                  </a:txBody>
                  <a:tcPr marT="91425" marB="91425" marR="91425" marL="91425"/>
                </a:tc>
                <a:tc>
                  <a:txBody>
                    <a:bodyPr/>
                    <a:lstStyle/>
                    <a:p>
                      <a:pPr indent="0" lvl="0" marL="0" rtl="0" algn="l">
                        <a:spcBef>
                          <a:spcPts val="0"/>
                        </a:spcBef>
                        <a:spcAft>
                          <a:spcPts val="0"/>
                        </a:spcAft>
                        <a:buNone/>
                      </a:pPr>
                      <a:r>
                        <a:rPr lang="en-US"/>
                        <a:t>User feedback system</a:t>
                      </a:r>
                      <a:endParaRPr/>
                    </a:p>
                  </a:txBody>
                  <a:tcPr marT="91425" marB="91425" marR="91425" marL="91425"/>
                </a:tc>
              </a:tr>
              <a:tr h="331250">
                <a:tc>
                  <a:txBody>
                    <a:bodyPr/>
                    <a:lstStyle/>
                    <a:p>
                      <a:pPr indent="0" lvl="0" marL="0" rtl="0" algn="l">
                        <a:spcBef>
                          <a:spcPts val="0"/>
                        </a:spcBef>
                        <a:spcAft>
                          <a:spcPts val="0"/>
                        </a:spcAft>
                        <a:buNone/>
                      </a:pPr>
                      <a:r>
                        <a:rPr lang="en-US"/>
                        <a:t>Power Supply</a:t>
                      </a:r>
                      <a:endParaRPr/>
                    </a:p>
                  </a:txBody>
                  <a:tcPr marT="91425" marB="91425" marR="91425" marL="91425"/>
                </a:tc>
                <a:tc>
                  <a:txBody>
                    <a:bodyPr/>
                    <a:lstStyle/>
                    <a:p>
                      <a:pPr indent="0" lvl="0" marL="0" rtl="0" algn="l">
                        <a:spcBef>
                          <a:spcPts val="0"/>
                        </a:spcBef>
                        <a:spcAft>
                          <a:spcPts val="0"/>
                        </a:spcAft>
                        <a:buNone/>
                      </a:pPr>
                      <a:r>
                        <a:rPr lang="en-US"/>
                        <a:t>USB cable / 5V supply</a:t>
                      </a:r>
                      <a:endParaRPr/>
                    </a:p>
                  </a:txBody>
                  <a:tcPr marT="91425" marB="91425" marR="91425" marL="91425"/>
                </a:tc>
                <a:tc>
                  <a:txBody>
                    <a:bodyPr/>
                    <a:lstStyle/>
                    <a:p>
                      <a:pPr indent="0" lvl="0" marL="0" rtl="0" algn="l">
                        <a:spcBef>
                          <a:spcPts val="0"/>
                        </a:spcBef>
                        <a:spcAft>
                          <a:spcPts val="0"/>
                        </a:spcAft>
                        <a:buNone/>
                      </a:pPr>
                      <a:r>
                        <a:rPr lang="en-US"/>
                        <a:t>ESP32 power source</a:t>
                      </a:r>
                      <a:endParaRPr/>
                    </a:p>
                  </a:txBody>
                  <a:tcPr marT="91425" marB="91425" marR="91425" marL="91425"/>
                </a:tc>
                <a:tc>
                  <a:txBody>
                    <a:bodyPr/>
                    <a:lstStyle/>
                    <a:p>
                      <a:pPr indent="0" lvl="0" marL="0" rtl="0" algn="l">
                        <a:spcBef>
                          <a:spcPts val="0"/>
                        </a:spcBef>
                        <a:spcAft>
                          <a:spcPts val="0"/>
                        </a:spcAft>
                        <a:buNone/>
                      </a:pPr>
                      <a:r>
                        <a:rPr lang="en-US"/>
                        <a:t>Stable DC input required</a:t>
                      </a:r>
                      <a:endParaRPr/>
                    </a:p>
                  </a:txBody>
                  <a:tcPr marT="91425" marB="91425" marR="91425" marL="91425"/>
                </a:tc>
              </a:tr>
              <a:tr h="331250">
                <a:tc>
                  <a:txBody>
                    <a:bodyPr/>
                    <a:lstStyle/>
                    <a:p>
                      <a:pPr indent="0" lvl="0" marL="0" rtl="0" algn="l">
                        <a:spcBef>
                          <a:spcPts val="0"/>
                        </a:spcBef>
                        <a:spcAft>
                          <a:spcPts val="0"/>
                        </a:spcAft>
                        <a:buNone/>
                      </a:pPr>
                      <a:r>
                        <a:rPr lang="en-US"/>
                        <a:t>Connectors</a:t>
                      </a:r>
                      <a:endParaRPr/>
                    </a:p>
                  </a:txBody>
                  <a:tcPr marT="91425" marB="91425" marR="91425" marL="91425"/>
                </a:tc>
                <a:tc>
                  <a:txBody>
                    <a:bodyPr/>
                    <a:lstStyle/>
                    <a:p>
                      <a:pPr indent="0" lvl="0" marL="0" rtl="0" algn="l">
                        <a:spcBef>
                          <a:spcPts val="0"/>
                        </a:spcBef>
                        <a:spcAft>
                          <a:spcPts val="0"/>
                        </a:spcAft>
                        <a:buNone/>
                      </a:pPr>
                      <a:r>
                        <a:rPr lang="en-US"/>
                        <a:t>Jumper wires &amp; resistors</a:t>
                      </a:r>
                      <a:endParaRPr/>
                    </a:p>
                  </a:txBody>
                  <a:tcPr marT="91425" marB="91425" marR="91425" marL="91425"/>
                </a:tc>
                <a:tc>
                  <a:txBody>
                    <a:bodyPr/>
                    <a:lstStyle/>
                    <a:p>
                      <a:pPr indent="0" lvl="0" marL="0" rtl="0" algn="l">
                        <a:spcBef>
                          <a:spcPts val="0"/>
                        </a:spcBef>
                        <a:spcAft>
                          <a:spcPts val="0"/>
                        </a:spcAft>
                        <a:buNone/>
                      </a:pPr>
                      <a:r>
                        <a:rPr lang="en-US"/>
                        <a:t>Circuit connections</a:t>
                      </a:r>
                      <a:endParaRPr/>
                    </a:p>
                  </a:txBody>
                  <a:tcPr marT="91425" marB="91425" marR="91425" marL="91425"/>
                </a:tc>
                <a:tc>
                  <a:txBody>
                    <a:bodyPr/>
                    <a:lstStyle/>
                    <a:p>
                      <a:pPr indent="0" lvl="0" marL="0" rtl="0" algn="l">
                        <a:spcBef>
                          <a:spcPts val="0"/>
                        </a:spcBef>
                        <a:spcAft>
                          <a:spcPts val="0"/>
                        </a:spcAft>
                        <a:buNone/>
                      </a:pPr>
                      <a:r>
                        <a:rPr lang="en-US"/>
                        <a:t>Safe &amp; stable wiring</a:t>
                      </a:r>
                      <a:endParaRPr/>
                    </a:p>
                  </a:txBody>
                  <a:tcPr marT="91425" marB="91425" marR="91425" marL="91425"/>
                </a:tc>
              </a:tr>
              <a:tr h="509625">
                <a:tc>
                  <a:txBody>
                    <a:bodyPr/>
                    <a:lstStyle/>
                    <a:p>
                      <a:pPr indent="0" lvl="0" marL="0" rtl="0" algn="l">
                        <a:spcBef>
                          <a:spcPts val="0"/>
                        </a:spcBef>
                        <a:spcAft>
                          <a:spcPts val="0"/>
                        </a:spcAft>
                        <a:buNone/>
                      </a:pPr>
                      <a:r>
                        <a:rPr lang="en-US"/>
                        <a:t>Dust Bin</a:t>
                      </a:r>
                      <a:endParaRPr/>
                    </a:p>
                  </a:txBody>
                  <a:tcPr marT="91425" marB="91425" marR="91425" marL="91425"/>
                </a:tc>
                <a:tc>
                  <a:txBody>
                    <a:bodyPr/>
                    <a:lstStyle/>
                    <a:p>
                      <a:pPr indent="0" lvl="0" marL="0" rtl="0" algn="l">
                        <a:spcBef>
                          <a:spcPts val="0"/>
                        </a:spcBef>
                        <a:spcAft>
                          <a:spcPts val="0"/>
                        </a:spcAft>
                        <a:buNone/>
                      </a:pPr>
                      <a:r>
                        <a:rPr lang="en-US"/>
                        <a:t>Physical model</a:t>
                      </a:r>
                      <a:endParaRPr/>
                    </a:p>
                  </a:txBody>
                  <a:tcPr marT="91425" marB="91425" marR="91425" marL="91425"/>
                </a:tc>
                <a:tc>
                  <a:txBody>
                    <a:bodyPr/>
                    <a:lstStyle/>
                    <a:p>
                      <a:pPr indent="0" lvl="0" marL="0" rtl="0" algn="l">
                        <a:spcBef>
                          <a:spcPts val="0"/>
                        </a:spcBef>
                        <a:spcAft>
                          <a:spcPts val="0"/>
                        </a:spcAft>
                        <a:buNone/>
                      </a:pPr>
                      <a:r>
                        <a:rPr lang="en-US"/>
                        <a:t>Waste container housing sensors</a:t>
                      </a:r>
                      <a:endParaRPr/>
                    </a:p>
                  </a:txBody>
                  <a:tcPr marT="91425" marB="91425" marR="91425" marL="91425"/>
                </a:tc>
                <a:tc>
                  <a:txBody>
                    <a:bodyPr/>
                    <a:lstStyle/>
                    <a:p>
                      <a:pPr indent="0" lvl="0" marL="0" rtl="0" algn="l">
                        <a:spcBef>
                          <a:spcPts val="0"/>
                        </a:spcBef>
                        <a:spcAft>
                          <a:spcPts val="0"/>
                        </a:spcAft>
                        <a:buNone/>
                      </a:pPr>
                      <a:r>
                        <a:rPr lang="en-US"/>
                        <a:t>Prototype demonstration unit</a:t>
                      </a:r>
                      <a:endParaRPr/>
                    </a:p>
                  </a:txBody>
                  <a:tcPr marT="91425" marB="91425" marR="91425" marL="91425"/>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g3a02e1ac065_0_76"/>
          <p:cNvSpPr txBox="1"/>
          <p:nvPr>
            <p:ph idx="12" type="sldNum"/>
          </p:nvPr>
        </p:nvSpPr>
        <p:spPr>
          <a:xfrm>
            <a:off x="8610600" y="6356350"/>
            <a:ext cx="2743200" cy="3651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73" name="Google Shape;173;g3a02e1ac065_0_76"/>
          <p:cNvSpPr txBox="1"/>
          <p:nvPr>
            <p:ph idx="1" type="body"/>
          </p:nvPr>
        </p:nvSpPr>
        <p:spPr>
          <a:xfrm>
            <a:off x="189186" y="1825625"/>
            <a:ext cx="11887200" cy="4351200"/>
          </a:xfrm>
          <a:prstGeom prst="rect">
            <a:avLst/>
          </a:prstGeom>
        </p:spPr>
        <p:txBody>
          <a:bodyPr anchorCtr="0" anchor="t" bIns="45700" lIns="91425" spcFirstLastPara="1" rIns="91425" wrap="square" tIns="45700">
            <a:noAutofit/>
          </a:bodyPr>
          <a:lstStyle/>
          <a:p>
            <a:pPr indent="0" lvl="0" marL="0" rtl="0" algn="l">
              <a:spcBef>
                <a:spcPts val="1000"/>
              </a:spcBef>
              <a:spcAft>
                <a:spcPts val="0"/>
              </a:spcAft>
              <a:buNone/>
            </a:pPr>
            <a:r>
              <a:rPr lang="en-US"/>
              <a:t>This project successfully demonstrates a smart waste-management system that detects wet waste, monitors bin fill level, and enables real-time alerts using sensors, machine learning, and IoT. By combining automation and AI, the system improves waste segregation accuracy and encourages efficient disposal with minimal human involvement.</a:t>
            </a:r>
            <a:endParaRPr/>
          </a:p>
        </p:txBody>
      </p:sp>
      <p:sp>
        <p:nvSpPr>
          <p:cNvPr id="174" name="Google Shape;174;g3a02e1ac065_0_76"/>
          <p:cNvSpPr txBox="1"/>
          <p:nvPr/>
        </p:nvSpPr>
        <p:spPr>
          <a:xfrm>
            <a:off x="3901148" y="656275"/>
            <a:ext cx="3712800" cy="523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800"/>
              <a:buFont typeface="Arial"/>
              <a:buNone/>
            </a:pPr>
            <a:r>
              <a:rPr b="1" lang="en-US" sz="2800">
                <a:latin typeface="Times New Roman"/>
                <a:ea typeface="Times New Roman"/>
                <a:cs typeface="Times New Roman"/>
                <a:sym typeface="Times New Roman"/>
              </a:rPr>
              <a:t>CONCLUSION</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g3a02e1ac065_0_84"/>
          <p:cNvSpPr txBox="1"/>
          <p:nvPr>
            <p:ph idx="12" type="sldNum"/>
          </p:nvPr>
        </p:nvSpPr>
        <p:spPr>
          <a:xfrm>
            <a:off x="8610600" y="6356350"/>
            <a:ext cx="2743200" cy="3651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81" name="Google Shape;181;g3a02e1ac065_0_84"/>
          <p:cNvSpPr txBox="1"/>
          <p:nvPr>
            <p:ph idx="1" type="body"/>
          </p:nvPr>
        </p:nvSpPr>
        <p:spPr>
          <a:xfrm>
            <a:off x="189186" y="1825625"/>
            <a:ext cx="11887200" cy="4351200"/>
          </a:xfrm>
          <a:prstGeom prst="rect">
            <a:avLst/>
          </a:prstGeom>
        </p:spPr>
        <p:txBody>
          <a:bodyPr anchorCtr="0" anchor="t" bIns="45700" lIns="91425" spcFirstLastPara="1" rIns="91425" wrap="square" tIns="45700">
            <a:noAutofit/>
          </a:bodyPr>
          <a:lstStyle/>
          <a:p>
            <a:pPr indent="-342900" lvl="0" marL="457200" rtl="0" algn="l">
              <a:spcBef>
                <a:spcPts val="1000"/>
              </a:spcBef>
              <a:spcAft>
                <a:spcPts val="0"/>
              </a:spcAft>
              <a:buSzPts val="1800"/>
              <a:buFont typeface="Arial"/>
              <a:buChar char="•"/>
            </a:pPr>
            <a:r>
              <a:rPr lang="en-US" sz="1800">
                <a:latin typeface="Arial"/>
                <a:ea typeface="Arial"/>
                <a:cs typeface="Arial"/>
                <a:sym typeface="Arial"/>
              </a:rPr>
              <a:t>Kaggle Notebook — </a:t>
            </a:r>
            <a:r>
              <a:rPr i="1" lang="en-US" sz="1800">
                <a:latin typeface="Arial"/>
                <a:ea typeface="Arial"/>
                <a:cs typeface="Arial"/>
                <a:sym typeface="Arial"/>
              </a:rPr>
              <a:t>Waste Classification with CNN (H5 Model).</a:t>
            </a:r>
            <a:br>
              <a:rPr i="1" lang="en-US" sz="1800">
                <a:latin typeface="Arial"/>
                <a:ea typeface="Arial"/>
                <a:cs typeface="Arial"/>
                <a:sym typeface="Arial"/>
              </a:rPr>
            </a:br>
            <a:r>
              <a:rPr lang="en-US" sz="1800">
                <a:latin typeface="Arial"/>
                <a:ea typeface="Arial"/>
                <a:cs typeface="Arial"/>
                <a:sym typeface="Arial"/>
              </a:rPr>
              <a:t> Available at:</a:t>
            </a:r>
            <a:r>
              <a:rPr lang="en-US" sz="1800">
                <a:uFill>
                  <a:noFill/>
                </a:uFill>
                <a:latin typeface="Arial"/>
                <a:ea typeface="Arial"/>
                <a:cs typeface="Arial"/>
                <a:sym typeface="Arial"/>
                <a:hlinkClick r:id="rId3"/>
              </a:rPr>
              <a:t> </a:t>
            </a:r>
            <a:r>
              <a:rPr lang="en-US" sz="1800" u="sng">
                <a:solidFill>
                  <a:schemeClr val="hlink"/>
                </a:solidFill>
                <a:latin typeface="Arial"/>
                <a:ea typeface="Arial"/>
                <a:cs typeface="Arial"/>
                <a:sym typeface="Arial"/>
                <a:hlinkClick r:id="rId4"/>
              </a:rPr>
              <a:t>https://www.kaggle.com/code/trident3/waste-classification-with-cnn-with-h5-model</a:t>
            </a:r>
            <a:br>
              <a:rPr lang="en-US" sz="1800" u="sng">
                <a:solidFill>
                  <a:schemeClr val="hlink"/>
                </a:solidFill>
                <a:latin typeface="Arial"/>
                <a:ea typeface="Arial"/>
                <a:cs typeface="Arial"/>
                <a:sym typeface="Arial"/>
                <a:hlinkClick r:id="rId5"/>
              </a:rPr>
            </a:br>
            <a:endParaRPr sz="1800" u="sng">
              <a:solidFill>
                <a:schemeClr val="hlink"/>
              </a:solidFill>
              <a:latin typeface="Arial"/>
              <a:ea typeface="Arial"/>
              <a:cs typeface="Arial"/>
              <a:sym typeface="Arial"/>
            </a:endParaRPr>
          </a:p>
          <a:p>
            <a:pPr indent="-342900" lvl="0" marL="457200" rtl="0" algn="l">
              <a:spcBef>
                <a:spcPts val="0"/>
              </a:spcBef>
              <a:spcAft>
                <a:spcPts val="0"/>
              </a:spcAft>
              <a:buSzPts val="1800"/>
              <a:buFont typeface="Arial"/>
              <a:buChar char="•"/>
            </a:pPr>
            <a:r>
              <a:rPr lang="en-US" sz="1800">
                <a:latin typeface="Arial"/>
                <a:ea typeface="Arial"/>
                <a:cs typeface="Arial"/>
                <a:sym typeface="Arial"/>
              </a:rPr>
              <a:t>Datasheet &amp; Application Guide — </a:t>
            </a:r>
            <a:r>
              <a:rPr i="1" lang="en-US" sz="1800">
                <a:latin typeface="Arial"/>
                <a:ea typeface="Arial"/>
                <a:cs typeface="Arial"/>
                <a:sym typeface="Arial"/>
              </a:rPr>
              <a:t>Capacitive Soil Moisture Sensor v2.0</a:t>
            </a:r>
            <a:br>
              <a:rPr i="1" lang="en-US" sz="1800">
                <a:latin typeface="Arial"/>
                <a:ea typeface="Arial"/>
                <a:cs typeface="Arial"/>
                <a:sym typeface="Arial"/>
              </a:rPr>
            </a:br>
            <a:r>
              <a:rPr lang="en-US" sz="1800">
                <a:latin typeface="Arial"/>
                <a:ea typeface="Arial"/>
                <a:cs typeface="Arial"/>
                <a:sym typeface="Arial"/>
              </a:rPr>
              <a:t> (DFRobot / Generic Module Documentation)</a:t>
            </a:r>
            <a:br>
              <a:rPr lang="en-US" sz="1800">
                <a:latin typeface="Arial"/>
                <a:ea typeface="Arial"/>
                <a:cs typeface="Arial"/>
                <a:sym typeface="Arial"/>
              </a:rPr>
            </a:br>
            <a:endParaRPr sz="1800">
              <a:latin typeface="Arial"/>
              <a:ea typeface="Arial"/>
              <a:cs typeface="Arial"/>
              <a:sym typeface="Arial"/>
            </a:endParaRPr>
          </a:p>
          <a:p>
            <a:pPr indent="-342900" lvl="0" marL="457200" rtl="0" algn="l">
              <a:spcBef>
                <a:spcPts val="0"/>
              </a:spcBef>
              <a:spcAft>
                <a:spcPts val="0"/>
              </a:spcAft>
              <a:buSzPts val="1800"/>
              <a:buFont typeface="Arial"/>
              <a:buChar char="•"/>
            </a:pPr>
            <a:r>
              <a:rPr lang="en-US" sz="1800">
                <a:latin typeface="Arial"/>
                <a:ea typeface="Arial"/>
                <a:cs typeface="Arial"/>
                <a:sym typeface="Arial"/>
              </a:rPr>
              <a:t>Espressif Systems — </a:t>
            </a:r>
            <a:r>
              <a:rPr i="1" lang="en-US" sz="1800">
                <a:latin typeface="Arial"/>
                <a:ea typeface="Arial"/>
                <a:cs typeface="Arial"/>
                <a:sym typeface="Arial"/>
              </a:rPr>
              <a:t>ESP32-S3 Official Technical Reference Manual,</a:t>
            </a:r>
            <a:r>
              <a:rPr lang="en-US" sz="1800">
                <a:latin typeface="Arial"/>
                <a:ea typeface="Arial"/>
                <a:cs typeface="Arial"/>
                <a:sym typeface="Arial"/>
              </a:rPr>
              <a:t> 2024.</a:t>
            </a:r>
            <a:br>
              <a:rPr lang="en-US" sz="1800">
                <a:latin typeface="Arial"/>
                <a:ea typeface="Arial"/>
                <a:cs typeface="Arial"/>
                <a:sym typeface="Arial"/>
              </a:rPr>
            </a:br>
            <a:r>
              <a:rPr lang="en-US" sz="1800">
                <a:latin typeface="Arial"/>
                <a:ea typeface="Arial"/>
                <a:cs typeface="Arial"/>
                <a:sym typeface="Arial"/>
              </a:rPr>
              <a:t> Available at:</a:t>
            </a:r>
            <a:r>
              <a:rPr lang="en-US" sz="1800">
                <a:uFill>
                  <a:noFill/>
                </a:uFill>
                <a:latin typeface="Arial"/>
                <a:ea typeface="Arial"/>
                <a:cs typeface="Arial"/>
                <a:sym typeface="Arial"/>
                <a:hlinkClick r:id="rId6"/>
              </a:rPr>
              <a:t> </a:t>
            </a:r>
            <a:r>
              <a:rPr lang="en-US" sz="1800" u="sng">
                <a:solidFill>
                  <a:schemeClr val="hlink"/>
                </a:solidFill>
                <a:latin typeface="Arial"/>
                <a:ea typeface="Arial"/>
                <a:cs typeface="Arial"/>
                <a:sym typeface="Arial"/>
                <a:hlinkClick r:id="rId7"/>
              </a:rPr>
              <a:t>https://www.espressif.com</a:t>
            </a:r>
            <a:endParaRPr sz="1800" u="sng">
              <a:solidFill>
                <a:schemeClr val="hlink"/>
              </a:solidFill>
              <a:latin typeface="Arial"/>
              <a:ea typeface="Arial"/>
              <a:cs typeface="Arial"/>
              <a:sym typeface="Arial"/>
            </a:endParaRPr>
          </a:p>
          <a:p>
            <a:pPr indent="0" lvl="0" marL="0" rtl="0" algn="l">
              <a:spcBef>
                <a:spcPts val="1000"/>
              </a:spcBef>
              <a:spcAft>
                <a:spcPts val="0"/>
              </a:spcAft>
              <a:buNone/>
            </a:pPr>
            <a:r>
              <a:t/>
            </a:r>
            <a:endParaRPr/>
          </a:p>
        </p:txBody>
      </p:sp>
      <p:sp>
        <p:nvSpPr>
          <p:cNvPr id="182" name="Google Shape;182;g3a02e1ac065_0_84"/>
          <p:cNvSpPr txBox="1"/>
          <p:nvPr/>
        </p:nvSpPr>
        <p:spPr>
          <a:xfrm>
            <a:off x="3901148" y="656275"/>
            <a:ext cx="3712800" cy="523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800"/>
              <a:buFont typeface="Arial"/>
              <a:buNone/>
            </a:pPr>
            <a:r>
              <a:rPr b="1" lang="en-US" sz="2800">
                <a:latin typeface="Times New Roman"/>
                <a:ea typeface="Times New Roman"/>
                <a:cs typeface="Times New Roman"/>
                <a:sym typeface="Times New Roman"/>
              </a:rPr>
              <a:t>REFERENCES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2023-06-02T05:30:25Z</dcterms:created>
  <dc:creator>Mahadevaswamy G K</dc:creator>
</cp:coreProperties>
</file>